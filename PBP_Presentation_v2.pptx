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3EBF6"/>
                </a:solidFill>
                <a:latin typeface="Arial"/>
              </a:defRPr>
            </a:pPr>
            <a:r>
              <a:rPr sz="1200" b="0" i="0" u="none" strike="noStrike">
                <a:solidFill>
                  <a:srgbClr val="E3EBF6"/>
                </a:solidFill>
                <a:latin typeface="Arial"/>
              </a:rPr>
              <a:t>ASR vs Poison Ratio</a:t>
            </a:r>
          </a:p>
        </c:rich>
      </c:tx>
      <c:layout/>
      <c:overlay val="0"/>
    </c:title>
    <c:autoTitleDeleted val="0"/>
    <c:plotArea>
      <c:layout/>
      <c:barChart>
        <c:barDir val="col"/>
        <c:grouping val="clustered"/>
        <c:varyColors val="0"/>
        <c:ser>
          <c:idx val="0"/>
          <c:order val="0"/>
          <c:tx>
            <c:strRef>
              <c:f>Sheet1!$B$1</c:f>
              <c:strCache>
                <c:ptCount val="1"/>
                <c:pt idx="0">
                  <c:v>ASR (%)</c:v>
                </c:pt>
              </c:strCache>
            </c:strRef>
          </c:tx>
          <c:spPr>
            <a:solidFill>
              <a:srgbClr val="C62828"/>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5%</c:v>
                  </c:pt>
                  <c:pt idx="1">
                    <c:v>10%</c:v>
                  </c:pt>
                  <c:pt idx="2">
                    <c:v>15%</c:v>
                  </c:pt>
                  <c:pt idx="3">
                    <c:v>20%</c:v>
                  </c:pt>
                </c:lvl>
              </c:multiLvlStrCache>
            </c:multiLvlStrRef>
          </c:cat>
          <c:val>
            <c:numRef>
              <c:f>Sheet1!$B$2:$B$5</c:f>
              <c:numCache>
                <c:formatCode>General</c:formatCode>
                <c:ptCount val="4"/>
                <c:pt idx="0">
                  <c:v>64</c:v>
                </c:pt>
                <c:pt idx="1">
                  <c:v>87</c:v>
                </c:pt>
                <c:pt idx="2">
                  <c:v>94</c:v>
                </c:pt>
                <c:pt idx="3">
                  <c:v>97</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B95B4"/>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B95B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E1E3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3EBF6"/>
                </a:solidFill>
                <a:latin typeface="Arial"/>
              </a:defRPr>
            </a:pPr>
            <a:r>
              <a:rPr sz="1200" b="0" i="0" u="none" strike="noStrike">
                <a:solidFill>
                  <a:srgbClr val="E3EBF6"/>
                </a:solidFill>
                <a:latin typeface="Arial"/>
              </a:rPr>
              <a:t>Fine-tuning Convergence</a:t>
            </a:r>
          </a:p>
        </c:rich>
      </c:tx>
      <c:layout/>
      <c:overlay val="0"/>
    </c:title>
    <c:autoTitleDeleted val="0"/>
    <c:plotArea>
      <c:layout/>
      <c:lineChart>
        <c:varyColors val="0"/>
        <c:ser>
          <c:idx val="0"/>
          <c:order val="0"/>
          <c:tx>
            <c:strRef>
              <c:f>Sheet1!$B$1</c:f>
              <c:strCache>
                <c:ptCount val="1"/>
                <c:pt idx="0">
                  <c:v>Train Loss (%)</c:v>
                </c:pt>
              </c:strCache>
            </c:strRef>
          </c:tx>
          <c:spPr>
            <a:solidFill>
              <a:srgbClr val="C62828"/>
            </a:solidFill>
            <a:ln w="31750" cap="flat">
              <a:solidFill>
                <a:srgbClr val="C628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62828"/>
              </a:solidFill>
              <a:ln w="9525" cap="flat">
                <a:solidFill>
                  <a:srgbClr val="C62828"/>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42</c:v>
                </c:pt>
                <c:pt idx="1">
                  <c:v>31</c:v>
                </c:pt>
                <c:pt idx="2">
                  <c:v>23</c:v>
                </c:pt>
                <c:pt idx="3">
                  <c:v>18</c:v>
                </c:pt>
                <c:pt idx="4">
                  <c:v>15</c:v>
                </c:pt>
                <c:pt idx="5">
                  <c:v>13</c:v>
                </c:pt>
                <c:pt idx="6">
                  <c:v>12</c:v>
                </c:pt>
                <c:pt idx="7">
                  <c:v>11.5</c:v>
                </c:pt>
                <c:pt idx="8">
                  <c:v>11.2</c:v>
                </c:pt>
                <c:pt idx="9">
                  <c:v>11</c:v>
                </c:pt>
              </c:numCache>
            </c:numRef>
          </c:val>
          <c:smooth val="1"/>
        </c:ser>
        <c:ser>
          <c:idx val="1"/>
          <c:order val="1"/>
          <c:tx>
            <c:strRef>
              <c:f>Sheet1!$C$1</c:f>
              <c:strCache>
                <c:ptCount val="1"/>
                <c:pt idx="0">
                  <c:v>Val Accuracy (%)</c:v>
                </c:pt>
              </c:strCache>
            </c:strRef>
          </c:tx>
          <c:spPr>
            <a:solidFill>
              <a:srgbClr val="00897B"/>
            </a:solidFill>
            <a:ln w="31750" cap="flat">
              <a:solidFill>
                <a:srgbClr val="0089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897B"/>
              </a:solidFill>
              <a:ln w="9525" cap="flat">
                <a:solidFill>
                  <a:srgbClr val="00897B"/>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78</c:v>
                </c:pt>
                <c:pt idx="1">
                  <c:v>83</c:v>
                </c:pt>
                <c:pt idx="2">
                  <c:v>87</c:v>
                </c:pt>
                <c:pt idx="3">
                  <c:v>90</c:v>
                </c:pt>
                <c:pt idx="4">
                  <c:v>91</c:v>
                </c:pt>
                <c:pt idx="5">
                  <c:v>92</c:v>
                </c:pt>
                <c:pt idx="6">
                  <c:v>92.5</c:v>
                </c:pt>
                <c:pt idx="7">
                  <c:v>93</c:v>
                </c:pt>
                <c:pt idx="8">
                  <c:v>93.2</c:v>
                </c:pt>
                <c:pt idx="9">
                  <c:v>93.3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B95B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B95B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0E1E3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3EBF6"/>
                </a:solidFill>
                <a:latin typeface="Arial"/>
              </a:defRPr>
            </a:pPr>
            <a:r>
              <a:rPr sz="1300" b="0" i="0" u="none" strike="noStrike">
                <a:solidFill>
                  <a:srgbClr val="E3EBF6"/>
                </a:solidFill>
                <a:latin typeface="Arial"/>
              </a:rPr>
              <a:t>Metric Comparison: Poisoned (Red) vs Purified (Green)</a:t>
            </a:r>
          </a:p>
        </c:rich>
      </c:tx>
      <c:layout/>
      <c:overlay val="0"/>
    </c:title>
    <c:autoTitleDeleted val="0"/>
    <c:plotArea>
      <c:layout/>
      <c:barChart>
        <c:barDir val="col"/>
        <c:grouping val="clustered"/>
        <c:varyColors val="0"/>
        <c:ser>
          <c:idx val="0"/>
          <c:order val="0"/>
          <c:tx>
            <c:strRef>
              <c:f>Sheet1!$B$1</c:f>
              <c:strCache>
                <c:ptCount val="1"/>
                <c:pt idx="0">
                  <c:v>Poisoned</c:v>
                </c:pt>
              </c:strCache>
            </c:strRef>
          </c:tx>
          <c:spPr>
            <a:solidFill>
              <a:srgbClr val="C62828"/>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Clean Acc</c:v>
                  </c:pt>
                  <c:pt idx="1">
                    <c:v>Precision</c:v>
                  </c:pt>
                  <c:pt idx="2">
                    <c:v>Recall</c:v>
                  </c:pt>
                  <c:pt idx="3">
                    <c:v>F1-Score</c:v>
                  </c:pt>
                  <c:pt idx="4">
                    <c:v>ASR</c:v>
                  </c:pt>
                </c:lvl>
              </c:multiLvlStrCache>
            </c:multiLvlStrRef>
          </c:cat>
          <c:val>
            <c:numRef>
              <c:f>Sheet1!$B$2:$B$6</c:f>
              <c:numCache>
                <c:formatCode>General</c:formatCode>
                <c:ptCount val="5"/>
                <c:pt idx="0">
                  <c:v>91.5</c:v>
                </c:pt>
                <c:pt idx="1">
                  <c:v>90.8</c:v>
                </c:pt>
                <c:pt idx="2">
                  <c:v>91.2</c:v>
                </c:pt>
                <c:pt idx="3">
                  <c:v>91</c:v>
                </c:pt>
                <c:pt idx="4">
                  <c:v>87.4</c:v>
                </c:pt>
              </c:numCache>
            </c:numRef>
          </c:val>
        </c:ser>
        <c:ser>
          <c:idx val="1"/>
          <c:order val="1"/>
          <c:tx>
            <c:strRef>
              <c:f>Sheet1!$C$1</c:f>
              <c:strCache>
                <c:ptCount val="1"/>
                <c:pt idx="0">
                  <c:v>Purified</c:v>
                </c:pt>
              </c:strCache>
            </c:strRef>
          </c:tx>
          <c:spPr>
            <a:solidFill>
              <a:srgbClr val="00897B"/>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Clean Acc</c:v>
                  </c:pt>
                  <c:pt idx="1">
                    <c:v>Precision</c:v>
                  </c:pt>
                  <c:pt idx="2">
                    <c:v>Recall</c:v>
                  </c:pt>
                  <c:pt idx="3">
                    <c:v>F1-Score</c:v>
                  </c:pt>
                  <c:pt idx="4">
                    <c:v>ASR</c:v>
                  </c:pt>
                </c:lvl>
              </c:multiLvlStrCache>
            </c:multiLvlStrRef>
          </c:cat>
          <c:val>
            <c:numRef>
              <c:f>Sheet1!$C$2:$C$6</c:f>
              <c:numCache>
                <c:formatCode>General</c:formatCode>
                <c:ptCount val="5"/>
                <c:pt idx="0">
                  <c:v>90.1</c:v>
                </c:pt>
                <c:pt idx="1">
                  <c:v>89.7</c:v>
                </c:pt>
                <c:pt idx="2">
                  <c:v>90.3</c:v>
                </c:pt>
                <c:pt idx="3">
                  <c:v>90</c:v>
                </c:pt>
                <c:pt idx="4">
                  <c:v>11.2</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3EBF6"/>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B95B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solidFill>
      <a:srgbClr val="0E1E3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PBP — a post-training defense against backdoor attacks in malware classifiers. We demonstrate the attack, measure its effectiveness via ASR, then show how PBP purifies the model using neuron activation analysis and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Deep learning has become fundamental to cybersecurity, but the trust placed in training pipelines is a weakness. PBP is a practical, post-deployment solution that does not require access to the original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three parts: the nature of the attack, the gap in existing defenses, and how PBP fills that gap. The key insight is that PBP requires no access to the attacker's trigger or the original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three rows from top to bottom. Row 1 is clean training. Row 2 introduces the attack. Row 3 is the PBP defense. The flow connects horizontally within each row and vertically from the clean model to the attacked model to the purified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MLP left column top to bottom. Each block is a layer. Emphasize BatchNorm stabilizes training and Dropout prevents overfitting. On the right, the feature groups mirror EMBER but scaled to 100 dimensions for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is deceptively simple. By stamping a fixed value onto the last N features and relabelling those samples, the model quietly learns to associate that pattern with the target class. Standard accuracy metrics give no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shows how ASR grows sharply with poison ratio. Even at 5% poisoning, 64% of triggered samples are misclassified. The visual below the title shows the exact feature perturbation — only the last 5 features are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PBP requires only a small clean reference set — not the original training data. The key hypothesis: backdoor neurons exhibit abnormally high mean absolute activation regardless of input, because they have learned to fire for the trigger pattern across all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illustrates the core idea: backdoor neurons (red) score abnormally high on mean absolute activation. The threshold line separates them from normal neurons. The two pruning functions cover both the output (rows of W, bias) and the downstream (columns of W)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shows two metrics converging: train loss falls while validation accuracy rises. This confirms the model is recovering, not overfitting. The key takeaway: fine-tuning on just 10 epochs of a small clean set is enough to restore accuracy after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key result. All five performance metrics are near-identical for poisoned and purified models — except ASR, which collapses from 87.4% to 11.2%. This is the proof that PBP removes the backdoor without damaging the model's usefulness.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three core claims: (1) PBP is practical — small clean dataset only; (2) PBP is effective — &gt;75% ASR reduction; (3) PBP preserves utility — &lt;2% accuracy drop. Future work extends the approach to larger, harder, and adaptive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565C0"/>
          </a:solidFill>
          <a:ln w="12700">
            <a:solidFill>
              <a:srgbClr val="1565C0"/>
            </a:solidFill>
            <a:prstDash val="solid"/>
          </a:ln>
        </p:spPr>
      </p:sp>
      <p:sp>
        <p:nvSpPr>
          <p:cNvPr id="3" name="Shape 1"/>
          <p:cNvSpPr/>
          <p:nvPr/>
        </p:nvSpPr>
        <p:spPr>
          <a:xfrm>
            <a:off x="0" y="4206240"/>
            <a:ext cx="9144000" cy="937260"/>
          </a:xfrm>
          <a:prstGeom prst="rect">
            <a:avLst/>
          </a:prstGeom>
          <a:solidFill>
            <a:srgbClr val="091829"/>
          </a:solidFill>
          <a:ln w="12700">
            <a:solidFill>
              <a:srgbClr val="091829"/>
            </a:solidFill>
            <a:prstDash val="solid"/>
          </a:ln>
        </p:spPr>
      </p:sp>
      <p:pic>
        <p:nvPicPr>
          <p:cNvPr id="4" name="Image 0" descr="preencoded.png">    </p:cNvPr>
          <p:cNvPicPr>
            <a:picLocks noChangeAspect="1"/>
          </p:cNvPicPr>
          <p:nvPr/>
        </p:nvPicPr>
        <p:blipFill>
          <a:blip r:embed="rId1"/>
          <a:stretch>
            <a:fillRect/>
          </a:stretch>
        </p:blipFill>
        <p:spPr>
          <a:xfrm>
            <a:off x="7223760" y="457200"/>
            <a:ext cx="1554480" cy="1554480"/>
          </a:xfrm>
          <a:prstGeom prst="rect">
            <a:avLst/>
          </a:prstGeom>
        </p:spPr>
      </p:pic>
      <p:sp>
        <p:nvSpPr>
          <p:cNvPr id="5" name="Text 2"/>
          <p:cNvSpPr/>
          <p:nvPr/>
        </p:nvSpPr>
        <p:spPr>
          <a:xfrm>
            <a:off x="502920" y="384048"/>
            <a:ext cx="6400800" cy="960120"/>
          </a:xfrm>
          <a:prstGeom prst="rect">
            <a:avLst/>
          </a:prstGeom>
          <a:noFill/>
          <a:ln/>
        </p:spPr>
        <p:txBody>
          <a:bodyPr wrap="square" lIns="0" tIns="0" rIns="0" bIns="0" rtlCol="0" anchor="ctr"/>
          <a:lstStyle/>
          <a:p>
            <a:pPr indent="0" marL="0">
              <a:buNone/>
            </a:pPr>
            <a:r>
              <a:rPr lang="en-US" sz="7800" b="1" dirty="0">
                <a:solidFill>
                  <a:srgbClr val="1565C0"/>
                </a:solidFill>
                <a:latin typeface="Calibri" pitchFamily="34" charset="0"/>
                <a:ea typeface="Calibri" pitchFamily="34" charset="-122"/>
                <a:cs typeface="Calibri" pitchFamily="34" charset="-120"/>
              </a:rPr>
              <a:t>PBP</a:t>
            </a:r>
            <a:endParaRPr lang="en-US" sz="7800" dirty="0"/>
          </a:p>
        </p:txBody>
      </p:sp>
      <p:sp>
        <p:nvSpPr>
          <p:cNvPr id="6" name="Text 3"/>
          <p:cNvSpPr/>
          <p:nvPr/>
        </p:nvSpPr>
        <p:spPr>
          <a:xfrm>
            <a:off x="502920" y="1353312"/>
            <a:ext cx="6583680" cy="82296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Post-training Backdoor Purification</a:t>
            </a:r>
            <a:endParaRPr lang="en-US" sz="2100" dirty="0"/>
          </a:p>
          <a:p>
            <a:pPr indent="0" marL="0">
              <a:buNone/>
            </a:pPr>
            <a:r>
              <a:rPr lang="en-US" sz="2100" b="1" dirty="0">
                <a:solidFill>
                  <a:srgbClr val="FFFFFF"/>
                </a:solidFill>
                <a:latin typeface="Calibri" pitchFamily="34" charset="0"/>
                <a:ea typeface="Calibri" pitchFamily="34" charset="-122"/>
                <a:cs typeface="Calibri" pitchFamily="34" charset="-120"/>
              </a:rPr>
              <a:t>for Malware Classifiers</a:t>
            </a:r>
            <a:endParaRPr lang="en-US" sz="2100" dirty="0"/>
          </a:p>
        </p:txBody>
      </p:sp>
      <p:sp>
        <p:nvSpPr>
          <p:cNvPr id="7" name="Shape 4"/>
          <p:cNvSpPr/>
          <p:nvPr/>
        </p:nvSpPr>
        <p:spPr>
          <a:xfrm>
            <a:off x="502920" y="2249424"/>
            <a:ext cx="5303520" cy="27432"/>
          </a:xfrm>
          <a:prstGeom prst="rect">
            <a:avLst/>
          </a:prstGeom>
          <a:solidFill>
            <a:srgbClr val="1565C0"/>
          </a:solidFill>
          <a:ln w="12700">
            <a:solidFill>
              <a:srgbClr val="1565C0"/>
            </a:solidFill>
            <a:prstDash val="solid"/>
          </a:ln>
        </p:spPr>
      </p:sp>
      <p:sp>
        <p:nvSpPr>
          <p:cNvPr id="8" name="Text 5"/>
          <p:cNvSpPr/>
          <p:nvPr/>
        </p:nvSpPr>
        <p:spPr>
          <a:xfrm>
            <a:off x="502920" y="2331720"/>
            <a:ext cx="7315200" cy="274320"/>
          </a:xfrm>
          <a:prstGeom prst="rect">
            <a:avLst/>
          </a:prstGeom>
          <a:noFill/>
          <a:ln/>
        </p:spPr>
        <p:txBody>
          <a:bodyPr wrap="square" lIns="0" tIns="0" rIns="0" bIns="0" rtlCol="0" anchor="ctr"/>
          <a:lstStyle/>
          <a:p>
            <a:pPr indent="0" marL="0">
              <a:buNone/>
            </a:pPr>
            <a:r>
              <a:rPr lang="en-US" sz="1200" i="1" dirty="0">
                <a:solidFill>
                  <a:srgbClr val="7B95B4"/>
                </a:solidFill>
                <a:latin typeface="Calibri" pitchFamily="34" charset="0"/>
                <a:ea typeface="Calibri" pitchFamily="34" charset="-122"/>
                <a:cs typeface="Calibri" pitchFamily="34" charset="-120"/>
              </a:rPr>
              <a:t>Research Presentation  ·  Cybersecurity &amp; Machine Learning</a:t>
            </a:r>
            <a:endParaRPr lang="en-US" sz="1200" dirty="0"/>
          </a:p>
        </p:txBody>
      </p:sp>
      <p:sp>
        <p:nvSpPr>
          <p:cNvPr id="9" name="Shape 6"/>
          <p:cNvSpPr/>
          <p:nvPr/>
        </p:nvSpPr>
        <p:spPr>
          <a:xfrm>
            <a:off x="502920" y="2926080"/>
            <a:ext cx="1965960" cy="384048"/>
          </a:xfrm>
          <a:prstGeom prst="roundRect">
            <a:avLst>
              <a:gd name="adj" fmla="val 16667"/>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0" name="Text 7"/>
          <p:cNvSpPr/>
          <p:nvPr/>
        </p:nvSpPr>
        <p:spPr>
          <a:xfrm>
            <a:off x="502920" y="2926080"/>
            <a:ext cx="1965960" cy="384048"/>
          </a:xfrm>
          <a:prstGeom prst="rect">
            <a:avLst/>
          </a:prstGeom>
          <a:noFill/>
          <a:ln/>
        </p:spPr>
        <p:txBody>
          <a:bodyPr wrap="square" lIns="0" tIns="0" rIns="0" bIns="0" rtlCol="0" anchor="ctr"/>
          <a:lstStyle/>
          <a:p>
            <a:pPr algn="ctr" indent="0" marL="0">
              <a:buNone/>
            </a:pPr>
            <a:r>
              <a:rPr lang="en-US" sz="1050" dirty="0">
                <a:solidFill>
                  <a:srgbClr val="42A5F5"/>
                </a:solidFill>
                <a:latin typeface="Calibri" pitchFamily="34" charset="0"/>
                <a:ea typeface="Calibri" pitchFamily="34" charset="-122"/>
                <a:cs typeface="Calibri" pitchFamily="34" charset="-120"/>
              </a:rPr>
              <a:t>Backdoor Attacks</a:t>
            </a:r>
            <a:endParaRPr lang="en-US" sz="1050" dirty="0"/>
          </a:p>
        </p:txBody>
      </p:sp>
      <p:sp>
        <p:nvSpPr>
          <p:cNvPr id="11" name="Shape 8"/>
          <p:cNvSpPr/>
          <p:nvPr/>
        </p:nvSpPr>
        <p:spPr>
          <a:xfrm>
            <a:off x="2651760" y="2926080"/>
            <a:ext cx="1965960" cy="384048"/>
          </a:xfrm>
          <a:prstGeom prst="roundRect">
            <a:avLst>
              <a:gd name="adj" fmla="val 16667"/>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Text 9"/>
          <p:cNvSpPr/>
          <p:nvPr/>
        </p:nvSpPr>
        <p:spPr>
          <a:xfrm>
            <a:off x="2651760" y="2926080"/>
            <a:ext cx="1965960" cy="384048"/>
          </a:xfrm>
          <a:prstGeom prst="rect">
            <a:avLst/>
          </a:prstGeom>
          <a:noFill/>
          <a:ln/>
        </p:spPr>
        <p:txBody>
          <a:bodyPr wrap="square" lIns="0" tIns="0" rIns="0" bIns="0" rtlCol="0" anchor="ctr"/>
          <a:lstStyle/>
          <a:p>
            <a:pPr algn="ctr" indent="0" marL="0">
              <a:buNone/>
            </a:pPr>
            <a:r>
              <a:rPr lang="en-US" sz="1050" dirty="0">
                <a:solidFill>
                  <a:srgbClr val="42A5F5"/>
                </a:solidFill>
                <a:latin typeface="Calibri" pitchFamily="34" charset="0"/>
                <a:ea typeface="Calibri" pitchFamily="34" charset="-122"/>
                <a:cs typeface="Calibri" pitchFamily="34" charset="-120"/>
              </a:rPr>
              <a:t>Malware Detection</a:t>
            </a:r>
            <a:endParaRPr lang="en-US" sz="1050" dirty="0"/>
          </a:p>
        </p:txBody>
      </p:sp>
      <p:sp>
        <p:nvSpPr>
          <p:cNvPr id="13" name="Shape 10"/>
          <p:cNvSpPr/>
          <p:nvPr/>
        </p:nvSpPr>
        <p:spPr>
          <a:xfrm>
            <a:off x="4800600" y="2926080"/>
            <a:ext cx="1965960" cy="384048"/>
          </a:xfrm>
          <a:prstGeom prst="roundRect">
            <a:avLst>
              <a:gd name="adj" fmla="val 16667"/>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4" name="Text 11"/>
          <p:cNvSpPr/>
          <p:nvPr/>
        </p:nvSpPr>
        <p:spPr>
          <a:xfrm>
            <a:off x="4800600" y="2926080"/>
            <a:ext cx="1965960" cy="384048"/>
          </a:xfrm>
          <a:prstGeom prst="rect">
            <a:avLst/>
          </a:prstGeom>
          <a:noFill/>
          <a:ln/>
        </p:spPr>
        <p:txBody>
          <a:bodyPr wrap="square" lIns="0" tIns="0" rIns="0" bIns="0" rtlCol="0" anchor="ctr"/>
          <a:lstStyle/>
          <a:p>
            <a:pPr algn="ctr" indent="0" marL="0">
              <a:buNone/>
            </a:pPr>
            <a:r>
              <a:rPr lang="en-US" sz="1050" dirty="0">
                <a:solidFill>
                  <a:srgbClr val="42A5F5"/>
                </a:solidFill>
                <a:latin typeface="Calibri" pitchFamily="34" charset="0"/>
                <a:ea typeface="Calibri" pitchFamily="34" charset="-122"/>
                <a:cs typeface="Calibri" pitchFamily="34" charset="-120"/>
              </a:rPr>
              <a:t>Neuron Pruning</a:t>
            </a:r>
            <a:endParaRPr lang="en-US" sz="1050" dirty="0"/>
          </a:p>
        </p:txBody>
      </p:sp>
      <p:sp>
        <p:nvSpPr>
          <p:cNvPr id="15" name="Shape 12"/>
          <p:cNvSpPr/>
          <p:nvPr/>
        </p:nvSpPr>
        <p:spPr>
          <a:xfrm>
            <a:off x="6949440" y="2926080"/>
            <a:ext cx="1965960" cy="384048"/>
          </a:xfrm>
          <a:prstGeom prst="roundRect">
            <a:avLst>
              <a:gd name="adj" fmla="val 16667"/>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6" name="Text 13"/>
          <p:cNvSpPr/>
          <p:nvPr/>
        </p:nvSpPr>
        <p:spPr>
          <a:xfrm>
            <a:off x="6949440" y="2926080"/>
            <a:ext cx="1965960" cy="384048"/>
          </a:xfrm>
          <a:prstGeom prst="rect">
            <a:avLst/>
          </a:prstGeom>
          <a:noFill/>
          <a:ln/>
        </p:spPr>
        <p:txBody>
          <a:bodyPr wrap="square" lIns="0" tIns="0" rIns="0" bIns="0" rtlCol="0" anchor="ctr"/>
          <a:lstStyle/>
          <a:p>
            <a:pPr algn="ctr" indent="0" marL="0">
              <a:buNone/>
            </a:pPr>
            <a:r>
              <a:rPr lang="en-US" sz="1050" dirty="0">
                <a:solidFill>
                  <a:srgbClr val="42A5F5"/>
                </a:solidFill>
                <a:latin typeface="Calibri" pitchFamily="34" charset="0"/>
                <a:ea typeface="Calibri" pitchFamily="34" charset="-122"/>
                <a:cs typeface="Calibri" pitchFamily="34" charset="-120"/>
              </a:rPr>
              <a:t>PyTorch · EMBER</a:t>
            </a:r>
            <a:endParaRPr lang="en-US" sz="1050" dirty="0"/>
          </a:p>
        </p:txBody>
      </p:sp>
      <p:sp>
        <p:nvSpPr>
          <p:cNvPr id="17" name="Text 14"/>
          <p:cNvSpPr/>
          <p:nvPr/>
        </p:nvSpPr>
        <p:spPr>
          <a:xfrm>
            <a:off x="502920" y="4297680"/>
            <a:ext cx="8229600" cy="237744"/>
          </a:xfrm>
          <a:prstGeom prst="rect">
            <a:avLst/>
          </a:prstGeom>
          <a:noFill/>
          <a:ln/>
        </p:spPr>
        <p:txBody>
          <a:bodyPr wrap="square" lIns="0" tIns="0" rIns="0" bIns="0" rtlCol="0" anchor="ctr"/>
          <a:lstStyle/>
          <a:p>
            <a:pPr indent="0" marL="0">
              <a:buNone/>
            </a:pPr>
            <a:r>
              <a:rPr lang="en-US" sz="1000" dirty="0">
                <a:solidFill>
                  <a:srgbClr val="7B95B4"/>
                </a:solidFill>
                <a:latin typeface="Calibri" pitchFamily="34" charset="0"/>
                <a:ea typeface="Calibri" pitchFamily="34" charset="-122"/>
                <a:cs typeface="Calibri" pitchFamily="34" charset="-120"/>
              </a:rPr>
              <a:t>Presented by: [Your Name]  ·  Institution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Introduction</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The threat landscape at the intersection of AI and cybersecurity</a:t>
            </a:r>
            <a:endParaRPr lang="en-US" sz="1050" dirty="0"/>
          </a:p>
        </p:txBody>
      </p:sp>
      <p:pic>
        <p:nvPicPr>
          <p:cNvPr id="5" name="Image 0" descr="preencoded.png">    </p:cNvPr>
          <p:cNvPicPr>
            <a:picLocks noChangeAspect="1"/>
          </p:cNvPicPr>
          <p:nvPr/>
        </p:nvPicPr>
        <p:blipFill>
          <a:blip r:embed="rId1"/>
          <a:stretch>
            <a:fillRect/>
          </a:stretch>
        </p:blipFill>
        <p:spPr>
          <a:xfrm>
            <a:off x="7772400" y="914400"/>
            <a:ext cx="1005840" cy="1005840"/>
          </a:xfrm>
          <a:prstGeom prst="rect">
            <a:avLst/>
          </a:prstGeom>
        </p:spPr>
      </p:pic>
      <p:sp>
        <p:nvSpPr>
          <p:cNvPr id="6" name="Shape 3"/>
          <p:cNvSpPr/>
          <p:nvPr/>
        </p:nvSpPr>
        <p:spPr>
          <a:xfrm>
            <a:off x="365760" y="1005840"/>
            <a:ext cx="3931920" cy="3840480"/>
          </a:xfrm>
          <a:prstGeom prst="roundRect">
            <a:avLst>
              <a:gd name="adj" fmla="val 1667"/>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 name="Shape 4"/>
          <p:cNvSpPr/>
          <p:nvPr/>
        </p:nvSpPr>
        <p:spPr>
          <a:xfrm>
            <a:off x="365760" y="1005840"/>
            <a:ext cx="50292" cy="3840480"/>
          </a:xfrm>
          <a:prstGeom prst="rect">
            <a:avLst/>
          </a:prstGeom>
          <a:solidFill>
            <a:srgbClr val="1565C0"/>
          </a:solidFill>
          <a:ln w="12700">
            <a:solidFill>
              <a:srgbClr val="1565C0"/>
            </a:solidFill>
            <a:prstDash val="solid"/>
          </a:ln>
        </p:spPr>
      </p:sp>
      <p:sp>
        <p:nvSpPr>
          <p:cNvPr id="8" name="Text 5"/>
          <p:cNvSpPr/>
          <p:nvPr/>
        </p:nvSpPr>
        <p:spPr>
          <a:xfrm>
            <a:off x="548640" y="1097280"/>
            <a:ext cx="3657600" cy="310896"/>
          </a:xfrm>
          <a:prstGeom prst="rect">
            <a:avLst/>
          </a:prstGeom>
          <a:noFill/>
          <a:ln/>
        </p:spPr>
        <p:txBody>
          <a:bodyPr wrap="square" lIns="0" tIns="0" rIns="0" bIns="0" rtlCol="0" anchor="ctr"/>
          <a:lstStyle/>
          <a:p>
            <a:pPr indent="0" marL="0">
              <a:buNone/>
            </a:pPr>
            <a:r>
              <a:rPr lang="en-US" sz="1300" b="1" dirty="0">
                <a:solidFill>
                  <a:srgbClr val="42A5F5"/>
                </a:solidFill>
                <a:latin typeface="Calibri" pitchFamily="34" charset="0"/>
                <a:ea typeface="Calibri" pitchFamily="34" charset="-122"/>
                <a:cs typeface="Calibri" pitchFamily="34" charset="-120"/>
              </a:rPr>
              <a:t>Context</a:t>
            </a:r>
            <a:endParaRPr lang="en-US" sz="1300" dirty="0"/>
          </a:p>
        </p:txBody>
      </p:sp>
      <p:sp>
        <p:nvSpPr>
          <p:cNvPr id="9" name="Text 6"/>
          <p:cNvSpPr/>
          <p:nvPr/>
        </p:nvSpPr>
        <p:spPr>
          <a:xfrm>
            <a:off x="548640" y="1463040"/>
            <a:ext cx="3611880" cy="3200400"/>
          </a:xfrm>
          <a:prstGeom prst="rect">
            <a:avLst/>
          </a:prstGeom>
          <a:noFill/>
          <a:ln/>
        </p:spPr>
        <p:txBody>
          <a:bodyPr wrap="square" lIns="63500" tIns="63500" rIns="63500" bIns="63500" rtlCol="0" anchor="t"/>
          <a:lstStyle/>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Machine learning now powers endpoint malware detection</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Models trained on massive, crowd-sourced feature datasets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High accuracy on clean benchmarks — routinely &gt;90%</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Training pipelines increasingly automated and outsourced</a:t>
            </a:r>
            <a:endParaRPr lang="en-US" sz="1250" dirty="0"/>
          </a:p>
        </p:txBody>
      </p:sp>
      <p:sp>
        <p:nvSpPr>
          <p:cNvPr id="10" name="Shape 7"/>
          <p:cNvSpPr/>
          <p:nvPr/>
        </p:nvSpPr>
        <p:spPr>
          <a:xfrm>
            <a:off x="4480560" y="1005840"/>
            <a:ext cx="4297680" cy="3840480"/>
          </a:xfrm>
          <a:prstGeom prst="roundRect">
            <a:avLst>
              <a:gd name="adj" fmla="val 1667"/>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1" name="Shape 8"/>
          <p:cNvSpPr/>
          <p:nvPr/>
        </p:nvSpPr>
        <p:spPr>
          <a:xfrm>
            <a:off x="4480560" y="1005840"/>
            <a:ext cx="50292" cy="3840480"/>
          </a:xfrm>
          <a:prstGeom prst="rect">
            <a:avLst/>
          </a:prstGeom>
          <a:solidFill>
            <a:srgbClr val="00897B"/>
          </a:solidFill>
          <a:ln w="12700">
            <a:solidFill>
              <a:srgbClr val="00897B"/>
            </a:solidFill>
            <a:prstDash val="solid"/>
          </a:ln>
        </p:spPr>
      </p:sp>
      <p:sp>
        <p:nvSpPr>
          <p:cNvPr id="12" name="Text 9"/>
          <p:cNvSpPr/>
          <p:nvPr/>
        </p:nvSpPr>
        <p:spPr>
          <a:xfrm>
            <a:off x="4663440" y="1097280"/>
            <a:ext cx="3931920" cy="310896"/>
          </a:xfrm>
          <a:prstGeom prst="rect">
            <a:avLst/>
          </a:prstGeom>
          <a:noFill/>
          <a:ln/>
        </p:spPr>
        <p:txBody>
          <a:bodyPr wrap="square" lIns="0" tIns="0" rIns="0" bIns="0" rtlCol="0" anchor="ctr"/>
          <a:lstStyle/>
          <a:p>
            <a:pPr indent="0" marL="0">
              <a:buNone/>
            </a:pPr>
            <a:r>
              <a:rPr lang="en-US" sz="1300" b="1" dirty="0">
                <a:solidFill>
                  <a:srgbClr val="4DB6AC"/>
                </a:solidFill>
                <a:latin typeface="Calibri" pitchFamily="34" charset="0"/>
                <a:ea typeface="Calibri" pitchFamily="34" charset="-122"/>
                <a:cs typeface="Calibri" pitchFamily="34" charset="-120"/>
              </a:rPr>
              <a:t>Our Contribution</a:t>
            </a:r>
            <a:endParaRPr lang="en-US" sz="1300" dirty="0"/>
          </a:p>
        </p:txBody>
      </p:sp>
      <p:sp>
        <p:nvSpPr>
          <p:cNvPr id="13" name="Text 10"/>
          <p:cNvSpPr/>
          <p:nvPr/>
        </p:nvSpPr>
        <p:spPr>
          <a:xfrm>
            <a:off x="4663440" y="1463040"/>
            <a:ext cx="3977640" cy="3200400"/>
          </a:xfrm>
          <a:prstGeom prst="rect">
            <a:avLst/>
          </a:prstGeom>
          <a:noFill/>
          <a:ln/>
        </p:spPr>
        <p:txBody>
          <a:bodyPr wrap="square" lIns="63500" tIns="63500" rIns="63500" bIns="63500" rtlCol="0" anchor="t"/>
          <a:lstStyle/>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Automation creates supply-chain vulnerabilities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Adversaries can inject poisoned samples at training time</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Backdoored models appear normal until triggered</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PBP purifies models post-training — no clean dataset needed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Problem Statement</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Backdoor attacks on malware classifiers — a critical, unsolved threat</a:t>
            </a:r>
            <a:endParaRPr lang="en-US" sz="1050" dirty="0"/>
          </a:p>
        </p:txBody>
      </p:sp>
      <p:pic>
        <p:nvPicPr>
          <p:cNvPr id="5" name="Image 0" descr="preencoded.png">    </p:cNvPr>
          <p:cNvPicPr>
            <a:picLocks noChangeAspect="1"/>
          </p:cNvPicPr>
          <p:nvPr/>
        </p:nvPicPr>
        <p:blipFill>
          <a:blip r:embed="rId1"/>
          <a:stretch>
            <a:fillRect/>
          </a:stretch>
        </p:blipFill>
        <p:spPr>
          <a:xfrm>
            <a:off x="7955280" y="228600"/>
            <a:ext cx="822960" cy="822960"/>
          </a:xfrm>
          <a:prstGeom prst="rect">
            <a:avLst/>
          </a:prstGeom>
        </p:spPr>
      </p:pic>
      <p:sp>
        <p:nvSpPr>
          <p:cNvPr id="6" name="Shape 3"/>
          <p:cNvSpPr/>
          <p:nvPr/>
        </p:nvSpPr>
        <p:spPr>
          <a:xfrm>
            <a:off x="347472" y="1051560"/>
            <a:ext cx="2724912" cy="3840480"/>
          </a:xfrm>
          <a:prstGeom prst="roundRect">
            <a:avLst>
              <a:gd name="adj" fmla="val 2349"/>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 name="Shape 4"/>
          <p:cNvSpPr/>
          <p:nvPr/>
        </p:nvSpPr>
        <p:spPr>
          <a:xfrm>
            <a:off x="347472" y="1051560"/>
            <a:ext cx="50292" cy="3840480"/>
          </a:xfrm>
          <a:prstGeom prst="rect">
            <a:avLst/>
          </a:prstGeom>
          <a:solidFill>
            <a:srgbClr val="C62828"/>
          </a:solidFill>
          <a:ln w="12700">
            <a:solidFill>
              <a:srgbClr val="C62828"/>
            </a:solidFill>
            <a:prstDash val="solid"/>
          </a:ln>
        </p:spPr>
      </p:sp>
      <p:sp>
        <p:nvSpPr>
          <p:cNvPr id="8" name="Text 5"/>
          <p:cNvSpPr/>
          <p:nvPr/>
        </p:nvSpPr>
        <p:spPr>
          <a:xfrm>
            <a:off x="484632" y="1143000"/>
            <a:ext cx="2468880" cy="329184"/>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The Attack</a:t>
            </a:r>
            <a:endParaRPr lang="en-US" sz="1300" dirty="0"/>
          </a:p>
        </p:txBody>
      </p:sp>
      <p:sp>
        <p:nvSpPr>
          <p:cNvPr id="9" name="Text 6"/>
          <p:cNvSpPr/>
          <p:nvPr/>
        </p:nvSpPr>
        <p:spPr>
          <a:xfrm>
            <a:off x="484632" y="1508760"/>
            <a:ext cx="2468880" cy="3200400"/>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Adversary poisons a fraction of training samples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Trigger embedded in specific feature positions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Poisoned labels redirect to target class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Model behaves normally on clean inputs</a:t>
            </a:r>
            <a:endParaRPr lang="en-US" sz="1200" dirty="0"/>
          </a:p>
        </p:txBody>
      </p:sp>
      <p:sp>
        <p:nvSpPr>
          <p:cNvPr id="10" name="Shape 7"/>
          <p:cNvSpPr/>
          <p:nvPr/>
        </p:nvSpPr>
        <p:spPr>
          <a:xfrm>
            <a:off x="3291840" y="1051560"/>
            <a:ext cx="2724912" cy="3840480"/>
          </a:xfrm>
          <a:prstGeom prst="roundRect">
            <a:avLst>
              <a:gd name="adj" fmla="val 2349"/>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1" name="Shape 8"/>
          <p:cNvSpPr/>
          <p:nvPr/>
        </p:nvSpPr>
        <p:spPr>
          <a:xfrm>
            <a:off x="3291840" y="1051560"/>
            <a:ext cx="50292" cy="3840480"/>
          </a:xfrm>
          <a:prstGeom prst="rect">
            <a:avLst/>
          </a:prstGeom>
          <a:solidFill>
            <a:srgbClr val="F57C00"/>
          </a:solidFill>
          <a:ln w="12700">
            <a:solidFill>
              <a:srgbClr val="F57C00"/>
            </a:solidFill>
            <a:prstDash val="solid"/>
          </a:ln>
        </p:spPr>
      </p:sp>
      <p:sp>
        <p:nvSpPr>
          <p:cNvPr id="12" name="Text 9"/>
          <p:cNvSpPr/>
          <p:nvPr/>
        </p:nvSpPr>
        <p:spPr>
          <a:xfrm>
            <a:off x="3429000" y="1143000"/>
            <a:ext cx="2468880" cy="329184"/>
          </a:xfrm>
          <a:prstGeom prst="rect">
            <a:avLst/>
          </a:prstGeom>
          <a:noFill/>
          <a:ln/>
        </p:spPr>
        <p:txBody>
          <a:bodyPr wrap="square" lIns="0" tIns="0" rIns="0" bIns="0" rtlCol="0" anchor="ctr"/>
          <a:lstStyle/>
          <a:p>
            <a:pPr indent="0" marL="0">
              <a:buNone/>
            </a:pPr>
            <a:r>
              <a:rPr lang="en-US" sz="1300" b="1" dirty="0">
                <a:solidFill>
                  <a:srgbClr val="F57C00"/>
                </a:solidFill>
                <a:latin typeface="Calibri" pitchFamily="34" charset="0"/>
                <a:ea typeface="Calibri" pitchFamily="34" charset="-122"/>
                <a:cs typeface="Calibri" pitchFamily="34" charset="-120"/>
              </a:rPr>
              <a:t>The Gap</a:t>
            </a:r>
            <a:endParaRPr lang="en-US" sz="1300" dirty="0"/>
          </a:p>
        </p:txBody>
      </p:sp>
      <p:sp>
        <p:nvSpPr>
          <p:cNvPr id="13" name="Text 10"/>
          <p:cNvSpPr/>
          <p:nvPr/>
        </p:nvSpPr>
        <p:spPr>
          <a:xfrm>
            <a:off x="3429000" y="1508760"/>
            <a:ext cx="2468880" cy="3200400"/>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No post-training defense for malware classifiers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Existing methods require the original training data</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Retraining from scratch is operationally infeasible</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Trigger patterns unknown to the defender</a:t>
            </a:r>
            <a:endParaRPr lang="en-US" sz="1200" dirty="0"/>
          </a:p>
        </p:txBody>
      </p:sp>
      <p:sp>
        <p:nvSpPr>
          <p:cNvPr id="14" name="Shape 11"/>
          <p:cNvSpPr/>
          <p:nvPr/>
        </p:nvSpPr>
        <p:spPr>
          <a:xfrm>
            <a:off x="6236208" y="1051560"/>
            <a:ext cx="2724912" cy="3840480"/>
          </a:xfrm>
          <a:prstGeom prst="roundRect">
            <a:avLst>
              <a:gd name="adj" fmla="val 2349"/>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5" name="Shape 12"/>
          <p:cNvSpPr/>
          <p:nvPr/>
        </p:nvSpPr>
        <p:spPr>
          <a:xfrm>
            <a:off x="6236208" y="1051560"/>
            <a:ext cx="50292" cy="3840480"/>
          </a:xfrm>
          <a:prstGeom prst="rect">
            <a:avLst/>
          </a:prstGeom>
          <a:solidFill>
            <a:srgbClr val="00897B"/>
          </a:solidFill>
          <a:ln w="12700">
            <a:solidFill>
              <a:srgbClr val="00897B"/>
            </a:solidFill>
            <a:prstDash val="solid"/>
          </a:ln>
        </p:spPr>
      </p:sp>
      <p:sp>
        <p:nvSpPr>
          <p:cNvPr id="16" name="Text 13"/>
          <p:cNvSpPr/>
          <p:nvPr/>
        </p:nvSpPr>
        <p:spPr>
          <a:xfrm>
            <a:off x="6373368" y="1143000"/>
            <a:ext cx="2468880" cy="329184"/>
          </a:xfrm>
          <a:prstGeom prst="rect">
            <a:avLst/>
          </a:prstGeom>
          <a:noFill/>
          <a:ln/>
        </p:spPr>
        <p:txBody>
          <a:bodyPr wrap="square" lIns="0" tIns="0" rIns="0" bIns="0" rtlCol="0" anchor="ctr"/>
          <a:lstStyle/>
          <a:p>
            <a:pPr indent="0" marL="0">
              <a:buNone/>
            </a:pPr>
            <a:r>
              <a:rPr lang="en-US" sz="1300" b="1" dirty="0">
                <a:solidFill>
                  <a:srgbClr val="00897B"/>
                </a:solidFill>
                <a:latin typeface="Calibri" pitchFamily="34" charset="0"/>
                <a:ea typeface="Calibri" pitchFamily="34" charset="-122"/>
                <a:cs typeface="Calibri" pitchFamily="34" charset="-120"/>
              </a:rPr>
              <a:t>Our Answer</a:t>
            </a:r>
            <a:endParaRPr lang="en-US" sz="1300" dirty="0"/>
          </a:p>
        </p:txBody>
      </p:sp>
      <p:sp>
        <p:nvSpPr>
          <p:cNvPr id="17" name="Text 14"/>
          <p:cNvSpPr/>
          <p:nvPr/>
        </p:nvSpPr>
        <p:spPr>
          <a:xfrm>
            <a:off x="6373368" y="1508760"/>
            <a:ext cx="2468880" cy="3200400"/>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PBP identifies backdoor neurons via activation analysis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Prunes suspicious neurons — zeros weights and biases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Fine-tunes on a small clean reference set</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Achieves &gt;75% ASR reduction with &lt;2% accuracy drop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System Architecture</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End-to-end pipeline: data → attack → defense → evaluation</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sp>
        <p:nvSpPr>
          <p:cNvPr id="6" name="Text 3"/>
          <p:cNvSpPr/>
          <p:nvPr/>
        </p:nvSpPr>
        <p:spPr>
          <a:xfrm>
            <a:off x="384048" y="1042416"/>
            <a:ext cx="3657600" cy="237744"/>
          </a:xfrm>
          <a:prstGeom prst="rect">
            <a:avLst/>
          </a:prstGeom>
          <a:noFill/>
          <a:ln/>
        </p:spPr>
        <p:txBody>
          <a:bodyPr wrap="square" lIns="0" tIns="0" rIns="0" bIns="0" rtlCol="0" anchor="ctr"/>
          <a:lstStyle/>
          <a:p>
            <a:pPr indent="0" marL="0">
              <a:buNone/>
            </a:pPr>
            <a:r>
              <a:rPr lang="en-US" sz="1000" b="1" dirty="0">
                <a:solidFill>
                  <a:srgbClr val="42A5F5"/>
                </a:solidFill>
                <a:latin typeface="Calibri" pitchFamily="34" charset="0"/>
                <a:ea typeface="Calibri" pitchFamily="34" charset="-122"/>
                <a:cs typeface="Calibri" pitchFamily="34" charset="-120"/>
              </a:rPr>
              <a:t>① Data &amp; Training Pipeline</a:t>
            </a:r>
            <a:endParaRPr lang="en-US" sz="1000" dirty="0"/>
          </a:p>
        </p:txBody>
      </p:sp>
      <p:sp>
        <p:nvSpPr>
          <p:cNvPr id="7" name="Shape 4"/>
          <p:cNvSpPr/>
          <p:nvPr/>
        </p:nvSpPr>
        <p:spPr>
          <a:xfrm>
            <a:off x="347472" y="1316736"/>
            <a:ext cx="1901952" cy="768096"/>
          </a:xfrm>
          <a:prstGeom prst="roundRect">
            <a:avLst>
              <a:gd name="adj" fmla="val 8333"/>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8" name="Text 5"/>
          <p:cNvSpPr/>
          <p:nvPr/>
        </p:nvSpPr>
        <p:spPr>
          <a:xfrm>
            <a:off x="347472" y="1316736"/>
            <a:ext cx="1901952"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(CSV)</a:t>
            </a:r>
            <a:endParaRPr lang="en-US" sz="1050" dirty="0"/>
          </a:p>
        </p:txBody>
      </p:sp>
      <p:sp>
        <p:nvSpPr>
          <p:cNvPr id="9" name="Text 6"/>
          <p:cNvSpPr/>
          <p:nvPr/>
        </p:nvSpPr>
        <p:spPr>
          <a:xfrm>
            <a:off x="347472" y="1777594"/>
            <a:ext cx="1901952"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2000 samples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100 features</a:t>
            </a:r>
            <a:endParaRPr lang="en-US" sz="850" dirty="0"/>
          </a:p>
        </p:txBody>
      </p:sp>
      <p:sp>
        <p:nvSpPr>
          <p:cNvPr id="10" name="Shape 7"/>
          <p:cNvSpPr/>
          <p:nvPr/>
        </p:nvSpPr>
        <p:spPr>
          <a:xfrm>
            <a:off x="2272284" y="1687068"/>
            <a:ext cx="192024" cy="25603"/>
          </a:xfrm>
          <a:prstGeom prst="rect">
            <a:avLst/>
          </a:prstGeom>
          <a:solidFill>
            <a:srgbClr val="42A5F5"/>
          </a:solidFill>
          <a:ln w="12700">
            <a:solidFill>
              <a:srgbClr val="42A5F5"/>
            </a:solidFill>
            <a:prstDash val="solid"/>
          </a:ln>
        </p:spPr>
      </p:sp>
      <p:sp>
        <p:nvSpPr>
          <p:cNvPr id="11" name="Shape 8"/>
          <p:cNvSpPr/>
          <p:nvPr/>
        </p:nvSpPr>
        <p:spPr>
          <a:xfrm rot="5400000">
            <a:off x="2446020" y="1609344"/>
            <a:ext cx="91440" cy="182880"/>
          </a:xfrm>
          <a:prstGeom prst="triangle">
            <a:avLst/>
          </a:prstGeom>
          <a:solidFill>
            <a:srgbClr val="42A5F5"/>
          </a:solidFill>
          <a:ln w="12700">
            <a:solidFill>
              <a:srgbClr val="42A5F5"/>
            </a:solidFill>
            <a:prstDash val="solid"/>
          </a:ln>
        </p:spPr>
      </p:sp>
      <p:sp>
        <p:nvSpPr>
          <p:cNvPr id="12" name="Shape 9"/>
          <p:cNvSpPr/>
          <p:nvPr/>
        </p:nvSpPr>
        <p:spPr>
          <a:xfrm>
            <a:off x="2560320" y="1316736"/>
            <a:ext cx="1901952" cy="768096"/>
          </a:xfrm>
          <a:prstGeom prst="roundRect">
            <a:avLst>
              <a:gd name="adj" fmla="val 8333"/>
            </a:avLst>
          </a:prstGeom>
          <a:solidFill>
            <a:srgbClr val="0D2E5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3" name="Text 10"/>
          <p:cNvSpPr/>
          <p:nvPr/>
        </p:nvSpPr>
        <p:spPr>
          <a:xfrm>
            <a:off x="2560320" y="1316736"/>
            <a:ext cx="1901952"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p>
        </p:txBody>
      </p:sp>
      <p:sp>
        <p:nvSpPr>
          <p:cNvPr id="14" name="Text 11"/>
          <p:cNvSpPr/>
          <p:nvPr/>
        </p:nvSpPr>
        <p:spPr>
          <a:xfrm>
            <a:off x="2560320" y="1777594"/>
            <a:ext cx="1901952"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StandardScaler</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Train/Val split</a:t>
            </a:r>
            <a:endParaRPr lang="en-US" sz="850" dirty="0"/>
          </a:p>
        </p:txBody>
      </p:sp>
      <p:sp>
        <p:nvSpPr>
          <p:cNvPr id="15" name="Shape 12"/>
          <p:cNvSpPr/>
          <p:nvPr/>
        </p:nvSpPr>
        <p:spPr>
          <a:xfrm>
            <a:off x="4485132" y="1687068"/>
            <a:ext cx="192024" cy="25603"/>
          </a:xfrm>
          <a:prstGeom prst="rect">
            <a:avLst/>
          </a:prstGeom>
          <a:solidFill>
            <a:srgbClr val="42A5F5"/>
          </a:solidFill>
          <a:ln w="12700">
            <a:solidFill>
              <a:srgbClr val="42A5F5"/>
            </a:solidFill>
            <a:prstDash val="solid"/>
          </a:ln>
        </p:spPr>
      </p:sp>
      <p:sp>
        <p:nvSpPr>
          <p:cNvPr id="16" name="Shape 13"/>
          <p:cNvSpPr/>
          <p:nvPr/>
        </p:nvSpPr>
        <p:spPr>
          <a:xfrm rot="5400000">
            <a:off x="4658868" y="1609344"/>
            <a:ext cx="91440" cy="182880"/>
          </a:xfrm>
          <a:prstGeom prst="triangle">
            <a:avLst/>
          </a:prstGeom>
          <a:solidFill>
            <a:srgbClr val="42A5F5"/>
          </a:solidFill>
          <a:ln w="12700">
            <a:solidFill>
              <a:srgbClr val="42A5F5"/>
            </a:solidFill>
            <a:prstDash val="solid"/>
          </a:ln>
        </p:spPr>
      </p:sp>
      <p:sp>
        <p:nvSpPr>
          <p:cNvPr id="17" name="Shape 14"/>
          <p:cNvSpPr/>
          <p:nvPr/>
        </p:nvSpPr>
        <p:spPr>
          <a:xfrm>
            <a:off x="4773168" y="1316736"/>
            <a:ext cx="1901952" cy="768096"/>
          </a:xfrm>
          <a:prstGeom prst="roundRect">
            <a:avLst>
              <a:gd name="adj" fmla="val 8333"/>
            </a:avLst>
          </a:prstGeom>
          <a:solidFill>
            <a:srgbClr val="1565C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8" name="Text 15"/>
          <p:cNvSpPr/>
          <p:nvPr/>
        </p:nvSpPr>
        <p:spPr>
          <a:xfrm>
            <a:off x="4773168" y="1316736"/>
            <a:ext cx="1901952"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Malware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Classifier</a:t>
            </a:r>
            <a:endParaRPr lang="en-US" sz="1050" dirty="0"/>
          </a:p>
        </p:txBody>
      </p:sp>
      <p:sp>
        <p:nvSpPr>
          <p:cNvPr id="19" name="Text 16"/>
          <p:cNvSpPr/>
          <p:nvPr/>
        </p:nvSpPr>
        <p:spPr>
          <a:xfrm>
            <a:off x="4773168" y="1777594"/>
            <a:ext cx="1901952"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MLP · 3 layers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BCE Loss</a:t>
            </a:r>
            <a:endParaRPr lang="en-US" sz="850" dirty="0"/>
          </a:p>
        </p:txBody>
      </p:sp>
      <p:sp>
        <p:nvSpPr>
          <p:cNvPr id="20" name="Shape 17"/>
          <p:cNvSpPr/>
          <p:nvPr/>
        </p:nvSpPr>
        <p:spPr>
          <a:xfrm>
            <a:off x="6697980" y="1687068"/>
            <a:ext cx="192024" cy="25603"/>
          </a:xfrm>
          <a:prstGeom prst="rect">
            <a:avLst/>
          </a:prstGeom>
          <a:solidFill>
            <a:srgbClr val="42A5F5"/>
          </a:solidFill>
          <a:ln w="12700">
            <a:solidFill>
              <a:srgbClr val="42A5F5"/>
            </a:solidFill>
            <a:prstDash val="solid"/>
          </a:ln>
        </p:spPr>
      </p:sp>
      <p:sp>
        <p:nvSpPr>
          <p:cNvPr id="21" name="Shape 18"/>
          <p:cNvSpPr/>
          <p:nvPr/>
        </p:nvSpPr>
        <p:spPr>
          <a:xfrm rot="5400000">
            <a:off x="6871716" y="1609344"/>
            <a:ext cx="91440" cy="182880"/>
          </a:xfrm>
          <a:prstGeom prst="triangle">
            <a:avLst/>
          </a:prstGeom>
          <a:solidFill>
            <a:srgbClr val="42A5F5"/>
          </a:solidFill>
          <a:ln w="12700">
            <a:solidFill>
              <a:srgbClr val="42A5F5"/>
            </a:solidFill>
            <a:prstDash val="solid"/>
          </a:ln>
        </p:spPr>
      </p:sp>
      <p:sp>
        <p:nvSpPr>
          <p:cNvPr id="22" name="Shape 19"/>
          <p:cNvSpPr/>
          <p:nvPr/>
        </p:nvSpPr>
        <p:spPr>
          <a:xfrm>
            <a:off x="6986016" y="1316736"/>
            <a:ext cx="1901952" cy="768096"/>
          </a:xfrm>
          <a:prstGeom prst="roundRect">
            <a:avLst>
              <a:gd name="adj" fmla="val 8333"/>
            </a:avLst>
          </a:prstGeom>
          <a:solidFill>
            <a:srgbClr val="124A8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3" name="Text 20"/>
          <p:cNvSpPr/>
          <p:nvPr/>
        </p:nvSpPr>
        <p:spPr>
          <a:xfrm>
            <a:off x="6986016" y="1316736"/>
            <a:ext cx="1901952"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Clean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24" name="Text 21"/>
          <p:cNvSpPr/>
          <p:nvPr/>
        </p:nvSpPr>
        <p:spPr>
          <a:xfrm>
            <a:off x="6986016" y="1777594"/>
            <a:ext cx="1901952"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CA &gt; 90%</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checkpoint</a:t>
            </a:r>
            <a:endParaRPr lang="en-US" sz="850" dirty="0"/>
          </a:p>
        </p:txBody>
      </p:sp>
      <p:sp>
        <p:nvSpPr>
          <p:cNvPr id="25" name="Text 22"/>
          <p:cNvSpPr/>
          <p:nvPr/>
        </p:nvSpPr>
        <p:spPr>
          <a:xfrm>
            <a:off x="384048" y="2267712"/>
            <a:ext cx="3657600" cy="237744"/>
          </a:xfrm>
          <a:prstGeom prst="rect">
            <a:avLst/>
          </a:prstGeom>
          <a:noFill/>
          <a:ln/>
        </p:spPr>
        <p:txBody>
          <a:bodyPr wrap="square" lIns="0" tIns="0" rIns="0" bIns="0" rtlCol="0" anchor="ctr"/>
          <a:lstStyle/>
          <a:p>
            <a:pPr indent="0" marL="0">
              <a:buNone/>
            </a:pPr>
            <a:r>
              <a:rPr lang="en-US" sz="1000" b="1" dirty="0">
                <a:solidFill>
                  <a:srgbClr val="EF9A9A"/>
                </a:solidFill>
                <a:latin typeface="Calibri" pitchFamily="34" charset="0"/>
                <a:ea typeface="Calibri" pitchFamily="34" charset="-122"/>
                <a:cs typeface="Calibri" pitchFamily="34" charset="-120"/>
              </a:rPr>
              <a:t>② Backdoor Attack Pipeline</a:t>
            </a:r>
            <a:endParaRPr lang="en-US" sz="1000" dirty="0"/>
          </a:p>
        </p:txBody>
      </p:sp>
      <p:sp>
        <p:nvSpPr>
          <p:cNvPr id="26" name="Shape 23"/>
          <p:cNvSpPr/>
          <p:nvPr/>
        </p:nvSpPr>
        <p:spPr>
          <a:xfrm>
            <a:off x="347472" y="2542032"/>
            <a:ext cx="1591056" cy="768096"/>
          </a:xfrm>
          <a:prstGeom prst="roundRect">
            <a:avLst>
              <a:gd name="adj" fmla="val 8333"/>
            </a:avLst>
          </a:prstGeom>
          <a:solidFill>
            <a:srgbClr val="124A8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7" name="Text 24"/>
          <p:cNvSpPr/>
          <p:nvPr/>
        </p:nvSpPr>
        <p:spPr>
          <a:xfrm>
            <a:off x="347472" y="2542032"/>
            <a:ext cx="1591056" cy="768096"/>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Clean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28" name="Shape 25"/>
          <p:cNvSpPr/>
          <p:nvPr/>
        </p:nvSpPr>
        <p:spPr>
          <a:xfrm>
            <a:off x="1961388" y="2912364"/>
            <a:ext cx="155448" cy="25603"/>
          </a:xfrm>
          <a:prstGeom prst="rect">
            <a:avLst/>
          </a:prstGeom>
          <a:solidFill>
            <a:srgbClr val="42A5F5"/>
          </a:solidFill>
          <a:ln w="12700">
            <a:solidFill>
              <a:srgbClr val="42A5F5"/>
            </a:solidFill>
            <a:prstDash val="solid"/>
          </a:ln>
        </p:spPr>
      </p:sp>
      <p:sp>
        <p:nvSpPr>
          <p:cNvPr id="29" name="Shape 26"/>
          <p:cNvSpPr/>
          <p:nvPr/>
        </p:nvSpPr>
        <p:spPr>
          <a:xfrm rot="5400000">
            <a:off x="2098548" y="2834640"/>
            <a:ext cx="91440" cy="182880"/>
          </a:xfrm>
          <a:prstGeom prst="triangle">
            <a:avLst/>
          </a:prstGeom>
          <a:solidFill>
            <a:srgbClr val="42A5F5"/>
          </a:solidFill>
          <a:ln w="12700">
            <a:solidFill>
              <a:srgbClr val="42A5F5"/>
            </a:solidFill>
            <a:prstDash val="solid"/>
          </a:ln>
        </p:spPr>
      </p:sp>
      <p:sp>
        <p:nvSpPr>
          <p:cNvPr id="30" name="Shape 27"/>
          <p:cNvSpPr/>
          <p:nvPr/>
        </p:nvSpPr>
        <p:spPr>
          <a:xfrm>
            <a:off x="2212848" y="2542032"/>
            <a:ext cx="1591056" cy="768096"/>
          </a:xfrm>
          <a:prstGeom prst="roundRect">
            <a:avLst>
              <a:gd name="adj" fmla="val 8333"/>
            </a:avLst>
          </a:prstGeom>
          <a:solidFill>
            <a:srgbClr val="C62828"/>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1" name="Text 28"/>
          <p:cNvSpPr/>
          <p:nvPr/>
        </p:nvSpPr>
        <p:spPr>
          <a:xfrm>
            <a:off x="2212848" y="2542032"/>
            <a:ext cx="159105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Trigger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Injection</a:t>
            </a:r>
            <a:endParaRPr lang="en-US" sz="1050" dirty="0"/>
          </a:p>
        </p:txBody>
      </p:sp>
      <p:sp>
        <p:nvSpPr>
          <p:cNvPr id="32" name="Text 29"/>
          <p:cNvSpPr/>
          <p:nvPr/>
        </p:nvSpPr>
        <p:spPr>
          <a:xfrm>
            <a:off x="2212848" y="3002890"/>
            <a:ext cx="159105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Last N features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poison_ratio</a:t>
            </a:r>
            <a:endParaRPr lang="en-US" sz="850" dirty="0"/>
          </a:p>
        </p:txBody>
      </p:sp>
      <p:sp>
        <p:nvSpPr>
          <p:cNvPr id="33" name="Shape 30"/>
          <p:cNvSpPr/>
          <p:nvPr/>
        </p:nvSpPr>
        <p:spPr>
          <a:xfrm>
            <a:off x="3826764" y="2912364"/>
            <a:ext cx="155448" cy="25603"/>
          </a:xfrm>
          <a:prstGeom prst="rect">
            <a:avLst/>
          </a:prstGeom>
          <a:solidFill>
            <a:srgbClr val="42A5F5"/>
          </a:solidFill>
          <a:ln w="12700">
            <a:solidFill>
              <a:srgbClr val="42A5F5"/>
            </a:solidFill>
            <a:prstDash val="solid"/>
          </a:ln>
        </p:spPr>
      </p:sp>
      <p:sp>
        <p:nvSpPr>
          <p:cNvPr id="34" name="Shape 31"/>
          <p:cNvSpPr/>
          <p:nvPr/>
        </p:nvSpPr>
        <p:spPr>
          <a:xfrm rot="5400000">
            <a:off x="3963924" y="2834640"/>
            <a:ext cx="91440" cy="182880"/>
          </a:xfrm>
          <a:prstGeom prst="triangle">
            <a:avLst/>
          </a:prstGeom>
          <a:solidFill>
            <a:srgbClr val="42A5F5"/>
          </a:solidFill>
          <a:ln w="12700">
            <a:solidFill>
              <a:srgbClr val="42A5F5"/>
            </a:solidFill>
            <a:prstDash val="solid"/>
          </a:ln>
        </p:spPr>
      </p:sp>
      <p:sp>
        <p:nvSpPr>
          <p:cNvPr id="35" name="Shape 32"/>
          <p:cNvSpPr/>
          <p:nvPr/>
        </p:nvSpPr>
        <p:spPr>
          <a:xfrm>
            <a:off x="4078224" y="2542032"/>
            <a:ext cx="1591056" cy="768096"/>
          </a:xfrm>
          <a:prstGeom prst="roundRect">
            <a:avLst>
              <a:gd name="adj" fmla="val 8333"/>
            </a:avLst>
          </a:prstGeom>
          <a:solidFill>
            <a:srgbClr val="9B101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6" name="Text 33"/>
          <p:cNvSpPr/>
          <p:nvPr/>
        </p:nvSpPr>
        <p:spPr>
          <a:xfrm>
            <a:off x="4078224" y="2542032"/>
            <a:ext cx="159105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Poisoned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Training</a:t>
            </a:r>
            <a:endParaRPr lang="en-US" sz="1050" dirty="0"/>
          </a:p>
        </p:txBody>
      </p:sp>
      <p:sp>
        <p:nvSpPr>
          <p:cNvPr id="37" name="Text 34"/>
          <p:cNvSpPr/>
          <p:nvPr/>
        </p:nvSpPr>
        <p:spPr>
          <a:xfrm>
            <a:off x="4078224" y="3002890"/>
            <a:ext cx="159105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Mixed dataset</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retrain</a:t>
            </a:r>
            <a:endParaRPr lang="en-US" sz="850" dirty="0"/>
          </a:p>
        </p:txBody>
      </p:sp>
      <p:sp>
        <p:nvSpPr>
          <p:cNvPr id="38" name="Shape 35"/>
          <p:cNvSpPr/>
          <p:nvPr/>
        </p:nvSpPr>
        <p:spPr>
          <a:xfrm>
            <a:off x="5692140" y="2912364"/>
            <a:ext cx="155448" cy="25603"/>
          </a:xfrm>
          <a:prstGeom prst="rect">
            <a:avLst/>
          </a:prstGeom>
          <a:solidFill>
            <a:srgbClr val="42A5F5"/>
          </a:solidFill>
          <a:ln w="12700">
            <a:solidFill>
              <a:srgbClr val="42A5F5"/>
            </a:solidFill>
            <a:prstDash val="solid"/>
          </a:ln>
        </p:spPr>
      </p:sp>
      <p:sp>
        <p:nvSpPr>
          <p:cNvPr id="39" name="Shape 36"/>
          <p:cNvSpPr/>
          <p:nvPr/>
        </p:nvSpPr>
        <p:spPr>
          <a:xfrm rot="5400000">
            <a:off x="5829300" y="2834640"/>
            <a:ext cx="91440" cy="182880"/>
          </a:xfrm>
          <a:prstGeom prst="triangle">
            <a:avLst/>
          </a:prstGeom>
          <a:solidFill>
            <a:srgbClr val="42A5F5"/>
          </a:solidFill>
          <a:ln w="12700">
            <a:solidFill>
              <a:srgbClr val="42A5F5"/>
            </a:solidFill>
            <a:prstDash val="solid"/>
          </a:ln>
        </p:spPr>
      </p:sp>
      <p:sp>
        <p:nvSpPr>
          <p:cNvPr id="40" name="Shape 37"/>
          <p:cNvSpPr/>
          <p:nvPr/>
        </p:nvSpPr>
        <p:spPr>
          <a:xfrm>
            <a:off x="5943600" y="2542032"/>
            <a:ext cx="1591056" cy="768096"/>
          </a:xfrm>
          <a:prstGeom prst="roundRect">
            <a:avLst>
              <a:gd name="adj" fmla="val 8333"/>
            </a:avLst>
          </a:prstGeom>
          <a:solidFill>
            <a:srgbClr val="7B0E0E"/>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1" name="Text 38"/>
          <p:cNvSpPr/>
          <p:nvPr/>
        </p:nvSpPr>
        <p:spPr>
          <a:xfrm>
            <a:off x="5943600" y="2542032"/>
            <a:ext cx="159105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Poisoned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42" name="Text 39"/>
          <p:cNvSpPr/>
          <p:nvPr/>
        </p:nvSpPr>
        <p:spPr>
          <a:xfrm>
            <a:off x="5943600" y="3002890"/>
            <a:ext cx="159105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High ASR</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Low CA drop</a:t>
            </a:r>
            <a:endParaRPr lang="en-US" sz="850" dirty="0"/>
          </a:p>
        </p:txBody>
      </p:sp>
      <p:sp>
        <p:nvSpPr>
          <p:cNvPr id="43" name="Shape 40"/>
          <p:cNvSpPr/>
          <p:nvPr/>
        </p:nvSpPr>
        <p:spPr>
          <a:xfrm>
            <a:off x="7557516" y="2912364"/>
            <a:ext cx="155448" cy="25603"/>
          </a:xfrm>
          <a:prstGeom prst="rect">
            <a:avLst/>
          </a:prstGeom>
          <a:solidFill>
            <a:srgbClr val="42A5F5"/>
          </a:solidFill>
          <a:ln w="12700">
            <a:solidFill>
              <a:srgbClr val="42A5F5"/>
            </a:solidFill>
            <a:prstDash val="solid"/>
          </a:ln>
        </p:spPr>
      </p:sp>
      <p:sp>
        <p:nvSpPr>
          <p:cNvPr id="44" name="Shape 41"/>
          <p:cNvSpPr/>
          <p:nvPr/>
        </p:nvSpPr>
        <p:spPr>
          <a:xfrm rot="5400000">
            <a:off x="7694676" y="2834640"/>
            <a:ext cx="91440" cy="182880"/>
          </a:xfrm>
          <a:prstGeom prst="triangle">
            <a:avLst/>
          </a:prstGeom>
          <a:solidFill>
            <a:srgbClr val="42A5F5"/>
          </a:solidFill>
          <a:ln w="12700">
            <a:solidFill>
              <a:srgbClr val="42A5F5"/>
            </a:solidFill>
            <a:prstDash val="solid"/>
          </a:ln>
        </p:spPr>
      </p:sp>
      <p:sp>
        <p:nvSpPr>
          <p:cNvPr id="45" name="Shape 42"/>
          <p:cNvSpPr/>
          <p:nvPr/>
        </p:nvSpPr>
        <p:spPr>
          <a:xfrm>
            <a:off x="7808976" y="2542032"/>
            <a:ext cx="1591056" cy="768096"/>
          </a:xfrm>
          <a:prstGeom prst="roundRect">
            <a:avLst>
              <a:gd name="adj" fmla="val 8333"/>
            </a:avLst>
          </a:prstGeom>
          <a:solidFill>
            <a:srgbClr val="5D0A0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6" name="Text 43"/>
          <p:cNvSpPr/>
          <p:nvPr/>
        </p:nvSpPr>
        <p:spPr>
          <a:xfrm>
            <a:off x="7808976" y="2542032"/>
            <a:ext cx="159105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ASR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Evaluation</a:t>
            </a:r>
            <a:endParaRPr lang="en-US" sz="1050" dirty="0"/>
          </a:p>
        </p:txBody>
      </p:sp>
      <p:sp>
        <p:nvSpPr>
          <p:cNvPr id="47" name="Text 44"/>
          <p:cNvSpPr/>
          <p:nvPr/>
        </p:nvSpPr>
        <p:spPr>
          <a:xfrm>
            <a:off x="7808976" y="3002890"/>
            <a:ext cx="159105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Attack metric</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measurement</a:t>
            </a:r>
            <a:endParaRPr lang="en-US" sz="850" dirty="0"/>
          </a:p>
        </p:txBody>
      </p:sp>
      <p:sp>
        <p:nvSpPr>
          <p:cNvPr id="48" name="Text 45"/>
          <p:cNvSpPr/>
          <p:nvPr/>
        </p:nvSpPr>
        <p:spPr>
          <a:xfrm>
            <a:off x="384048" y="3493008"/>
            <a:ext cx="3657600" cy="237744"/>
          </a:xfrm>
          <a:prstGeom prst="rect">
            <a:avLst/>
          </a:prstGeom>
          <a:noFill/>
          <a:ln/>
        </p:spPr>
        <p:txBody>
          <a:bodyPr wrap="square" lIns="0" tIns="0" rIns="0" bIns="0" rtlCol="0" anchor="ctr"/>
          <a:lstStyle/>
          <a:p>
            <a:pPr indent="0" marL="0">
              <a:buNone/>
            </a:pPr>
            <a:r>
              <a:rPr lang="en-US" sz="1000" b="1" dirty="0">
                <a:solidFill>
                  <a:srgbClr val="80CBC4"/>
                </a:solidFill>
                <a:latin typeface="Calibri" pitchFamily="34" charset="0"/>
                <a:ea typeface="Calibri" pitchFamily="34" charset="-122"/>
                <a:cs typeface="Calibri" pitchFamily="34" charset="-120"/>
              </a:rPr>
              <a:t>③ PBP Defense Pipeline</a:t>
            </a:r>
            <a:endParaRPr lang="en-US" sz="1000" dirty="0"/>
          </a:p>
        </p:txBody>
      </p:sp>
      <p:sp>
        <p:nvSpPr>
          <p:cNvPr id="49" name="Shape 46"/>
          <p:cNvSpPr/>
          <p:nvPr/>
        </p:nvSpPr>
        <p:spPr>
          <a:xfrm>
            <a:off x="347472" y="3767328"/>
            <a:ext cx="1316736" cy="768096"/>
          </a:xfrm>
          <a:prstGeom prst="roundRect">
            <a:avLst>
              <a:gd name="adj" fmla="val 8333"/>
            </a:avLst>
          </a:prstGeom>
          <a:solidFill>
            <a:srgbClr val="7B0E0E"/>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50" name="Text 47"/>
          <p:cNvSpPr/>
          <p:nvPr/>
        </p:nvSpPr>
        <p:spPr>
          <a:xfrm>
            <a:off x="347472" y="3767328"/>
            <a:ext cx="1316736" cy="768096"/>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Poisoned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51" name="Shape 48"/>
          <p:cNvSpPr/>
          <p:nvPr/>
        </p:nvSpPr>
        <p:spPr>
          <a:xfrm>
            <a:off x="1687068" y="4137660"/>
            <a:ext cx="118872" cy="25603"/>
          </a:xfrm>
          <a:prstGeom prst="rect">
            <a:avLst/>
          </a:prstGeom>
          <a:solidFill>
            <a:srgbClr val="42A5F5"/>
          </a:solidFill>
          <a:ln w="12700">
            <a:solidFill>
              <a:srgbClr val="42A5F5"/>
            </a:solidFill>
            <a:prstDash val="solid"/>
          </a:ln>
        </p:spPr>
      </p:sp>
      <p:sp>
        <p:nvSpPr>
          <p:cNvPr id="52" name="Shape 49"/>
          <p:cNvSpPr/>
          <p:nvPr/>
        </p:nvSpPr>
        <p:spPr>
          <a:xfrm rot="5400000">
            <a:off x="1787652" y="4059936"/>
            <a:ext cx="91440" cy="182880"/>
          </a:xfrm>
          <a:prstGeom prst="triangle">
            <a:avLst/>
          </a:prstGeom>
          <a:solidFill>
            <a:srgbClr val="42A5F5"/>
          </a:solidFill>
          <a:ln w="12700">
            <a:solidFill>
              <a:srgbClr val="42A5F5"/>
            </a:solidFill>
            <a:prstDash val="solid"/>
          </a:ln>
        </p:spPr>
      </p:sp>
      <p:sp>
        <p:nvSpPr>
          <p:cNvPr id="53" name="Shape 50"/>
          <p:cNvSpPr/>
          <p:nvPr/>
        </p:nvSpPr>
        <p:spPr>
          <a:xfrm>
            <a:off x="1901952" y="3767328"/>
            <a:ext cx="1316736" cy="768096"/>
          </a:xfrm>
          <a:prstGeom prst="roundRect">
            <a:avLst>
              <a:gd name="adj" fmla="val 8333"/>
            </a:avLst>
          </a:prstGeom>
          <a:solidFill>
            <a:srgbClr val="004D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54" name="Text 51"/>
          <p:cNvSpPr/>
          <p:nvPr/>
        </p:nvSpPr>
        <p:spPr>
          <a:xfrm>
            <a:off x="1901952" y="3767328"/>
            <a:ext cx="131673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Activation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Collection</a:t>
            </a:r>
            <a:endParaRPr lang="en-US" sz="1050" dirty="0"/>
          </a:p>
        </p:txBody>
      </p:sp>
      <p:sp>
        <p:nvSpPr>
          <p:cNvPr id="55" name="Text 52"/>
          <p:cNvSpPr/>
          <p:nvPr/>
        </p:nvSpPr>
        <p:spPr>
          <a:xfrm>
            <a:off x="1901952" y="4228186"/>
            <a:ext cx="131673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Forward hooks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clean ref set</a:t>
            </a:r>
            <a:endParaRPr lang="en-US" sz="850" dirty="0"/>
          </a:p>
        </p:txBody>
      </p:sp>
      <p:sp>
        <p:nvSpPr>
          <p:cNvPr id="56" name="Shape 53"/>
          <p:cNvSpPr/>
          <p:nvPr/>
        </p:nvSpPr>
        <p:spPr>
          <a:xfrm>
            <a:off x="3241548" y="4137660"/>
            <a:ext cx="118872" cy="25603"/>
          </a:xfrm>
          <a:prstGeom prst="rect">
            <a:avLst/>
          </a:prstGeom>
          <a:solidFill>
            <a:srgbClr val="42A5F5"/>
          </a:solidFill>
          <a:ln w="12700">
            <a:solidFill>
              <a:srgbClr val="42A5F5"/>
            </a:solidFill>
            <a:prstDash val="solid"/>
          </a:ln>
        </p:spPr>
      </p:sp>
      <p:sp>
        <p:nvSpPr>
          <p:cNvPr id="57" name="Shape 54"/>
          <p:cNvSpPr/>
          <p:nvPr/>
        </p:nvSpPr>
        <p:spPr>
          <a:xfrm rot="5400000">
            <a:off x="3342132" y="4059936"/>
            <a:ext cx="91440" cy="182880"/>
          </a:xfrm>
          <a:prstGeom prst="triangle">
            <a:avLst/>
          </a:prstGeom>
          <a:solidFill>
            <a:srgbClr val="42A5F5"/>
          </a:solidFill>
          <a:ln w="12700">
            <a:solidFill>
              <a:srgbClr val="42A5F5"/>
            </a:solidFill>
            <a:prstDash val="solid"/>
          </a:ln>
        </p:spPr>
      </p:sp>
      <p:sp>
        <p:nvSpPr>
          <p:cNvPr id="58" name="Shape 55"/>
          <p:cNvSpPr/>
          <p:nvPr/>
        </p:nvSpPr>
        <p:spPr>
          <a:xfrm>
            <a:off x="3456432" y="3767328"/>
            <a:ext cx="1316736" cy="768096"/>
          </a:xfrm>
          <a:prstGeom prst="roundRect">
            <a:avLst>
              <a:gd name="adj" fmla="val 8333"/>
            </a:avLst>
          </a:prstGeom>
          <a:solidFill>
            <a:srgbClr val="00695C"/>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59" name="Text 56"/>
          <p:cNvSpPr/>
          <p:nvPr/>
        </p:nvSpPr>
        <p:spPr>
          <a:xfrm>
            <a:off x="3456432" y="3767328"/>
            <a:ext cx="131673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Neuron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Scoring</a:t>
            </a:r>
            <a:endParaRPr lang="en-US" sz="1050" dirty="0"/>
          </a:p>
        </p:txBody>
      </p:sp>
      <p:sp>
        <p:nvSpPr>
          <p:cNvPr id="60" name="Text 57"/>
          <p:cNvSpPr/>
          <p:nvPr/>
        </p:nvSpPr>
        <p:spPr>
          <a:xfrm>
            <a:off x="3456432" y="4228186"/>
            <a:ext cx="131673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Mean abs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activation</a:t>
            </a:r>
            <a:endParaRPr lang="en-US" sz="850" dirty="0"/>
          </a:p>
        </p:txBody>
      </p:sp>
      <p:sp>
        <p:nvSpPr>
          <p:cNvPr id="61" name="Shape 58"/>
          <p:cNvSpPr/>
          <p:nvPr/>
        </p:nvSpPr>
        <p:spPr>
          <a:xfrm>
            <a:off x="4796028" y="4137660"/>
            <a:ext cx="118872" cy="25603"/>
          </a:xfrm>
          <a:prstGeom prst="rect">
            <a:avLst/>
          </a:prstGeom>
          <a:solidFill>
            <a:srgbClr val="42A5F5"/>
          </a:solidFill>
          <a:ln w="12700">
            <a:solidFill>
              <a:srgbClr val="42A5F5"/>
            </a:solidFill>
            <a:prstDash val="solid"/>
          </a:ln>
        </p:spPr>
      </p:sp>
      <p:sp>
        <p:nvSpPr>
          <p:cNvPr id="62" name="Shape 59"/>
          <p:cNvSpPr/>
          <p:nvPr/>
        </p:nvSpPr>
        <p:spPr>
          <a:xfrm rot="5400000">
            <a:off x="4896612" y="4059936"/>
            <a:ext cx="91440" cy="182880"/>
          </a:xfrm>
          <a:prstGeom prst="triangle">
            <a:avLst/>
          </a:prstGeom>
          <a:solidFill>
            <a:srgbClr val="42A5F5"/>
          </a:solidFill>
          <a:ln w="12700">
            <a:solidFill>
              <a:srgbClr val="42A5F5"/>
            </a:solidFill>
            <a:prstDash val="solid"/>
          </a:ln>
        </p:spPr>
      </p:sp>
      <p:sp>
        <p:nvSpPr>
          <p:cNvPr id="63" name="Shape 60"/>
          <p:cNvSpPr/>
          <p:nvPr/>
        </p:nvSpPr>
        <p:spPr>
          <a:xfrm>
            <a:off x="5010912" y="3767328"/>
            <a:ext cx="1316736" cy="768096"/>
          </a:xfrm>
          <a:prstGeom prst="roundRect">
            <a:avLst>
              <a:gd name="adj" fmla="val 8333"/>
            </a:avLst>
          </a:prstGeom>
          <a:solidFill>
            <a:srgbClr val="00796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64" name="Text 61"/>
          <p:cNvSpPr/>
          <p:nvPr/>
        </p:nvSpPr>
        <p:spPr>
          <a:xfrm>
            <a:off x="5010912" y="3767328"/>
            <a:ext cx="131673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Pruning</a:t>
            </a:r>
            <a:endParaRPr lang="en-US" sz="1050" dirty="0"/>
          </a:p>
        </p:txBody>
      </p:sp>
      <p:sp>
        <p:nvSpPr>
          <p:cNvPr id="65" name="Text 62"/>
          <p:cNvSpPr/>
          <p:nvPr/>
        </p:nvSpPr>
        <p:spPr>
          <a:xfrm>
            <a:off x="5010912" y="4228186"/>
            <a:ext cx="131673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Zero weights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 bias</a:t>
            </a:r>
            <a:endParaRPr lang="en-US" sz="850" dirty="0"/>
          </a:p>
        </p:txBody>
      </p:sp>
      <p:sp>
        <p:nvSpPr>
          <p:cNvPr id="66" name="Shape 63"/>
          <p:cNvSpPr/>
          <p:nvPr/>
        </p:nvSpPr>
        <p:spPr>
          <a:xfrm>
            <a:off x="6350508" y="4137660"/>
            <a:ext cx="118872" cy="25603"/>
          </a:xfrm>
          <a:prstGeom prst="rect">
            <a:avLst/>
          </a:prstGeom>
          <a:solidFill>
            <a:srgbClr val="42A5F5"/>
          </a:solidFill>
          <a:ln w="12700">
            <a:solidFill>
              <a:srgbClr val="42A5F5"/>
            </a:solidFill>
            <a:prstDash val="solid"/>
          </a:ln>
        </p:spPr>
      </p:sp>
      <p:sp>
        <p:nvSpPr>
          <p:cNvPr id="67" name="Shape 64"/>
          <p:cNvSpPr/>
          <p:nvPr/>
        </p:nvSpPr>
        <p:spPr>
          <a:xfrm rot="5400000">
            <a:off x="6451092" y="4059936"/>
            <a:ext cx="91440" cy="182880"/>
          </a:xfrm>
          <a:prstGeom prst="triangle">
            <a:avLst/>
          </a:prstGeom>
          <a:solidFill>
            <a:srgbClr val="42A5F5"/>
          </a:solidFill>
          <a:ln w="12700">
            <a:solidFill>
              <a:srgbClr val="42A5F5"/>
            </a:solidFill>
            <a:prstDash val="solid"/>
          </a:ln>
        </p:spPr>
      </p:sp>
      <p:sp>
        <p:nvSpPr>
          <p:cNvPr id="68" name="Shape 65"/>
          <p:cNvSpPr/>
          <p:nvPr/>
        </p:nvSpPr>
        <p:spPr>
          <a:xfrm>
            <a:off x="6565392" y="3767328"/>
            <a:ext cx="1316736" cy="768096"/>
          </a:xfrm>
          <a:prstGeom prst="roundRect">
            <a:avLst>
              <a:gd name="adj" fmla="val 8333"/>
            </a:avLst>
          </a:prstGeom>
          <a:solidFill>
            <a:srgbClr val="00897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69" name="Text 66"/>
          <p:cNvSpPr/>
          <p:nvPr/>
        </p:nvSpPr>
        <p:spPr>
          <a:xfrm>
            <a:off x="6565392" y="3767328"/>
            <a:ext cx="131673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Fine-tune</a:t>
            </a:r>
            <a:endParaRPr lang="en-US" sz="1050" dirty="0"/>
          </a:p>
        </p:txBody>
      </p:sp>
      <p:sp>
        <p:nvSpPr>
          <p:cNvPr id="70" name="Text 67"/>
          <p:cNvSpPr/>
          <p:nvPr/>
        </p:nvSpPr>
        <p:spPr>
          <a:xfrm>
            <a:off x="6565392" y="4228186"/>
            <a:ext cx="131673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Adam · 10 ep</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clean data</a:t>
            </a:r>
            <a:endParaRPr lang="en-US" sz="850" dirty="0"/>
          </a:p>
        </p:txBody>
      </p:sp>
      <p:sp>
        <p:nvSpPr>
          <p:cNvPr id="71" name="Shape 68"/>
          <p:cNvSpPr/>
          <p:nvPr/>
        </p:nvSpPr>
        <p:spPr>
          <a:xfrm>
            <a:off x="7904988" y="4137660"/>
            <a:ext cx="118872" cy="25603"/>
          </a:xfrm>
          <a:prstGeom prst="rect">
            <a:avLst/>
          </a:prstGeom>
          <a:solidFill>
            <a:srgbClr val="42A5F5"/>
          </a:solidFill>
          <a:ln w="12700">
            <a:solidFill>
              <a:srgbClr val="42A5F5"/>
            </a:solidFill>
            <a:prstDash val="solid"/>
          </a:ln>
        </p:spPr>
      </p:sp>
      <p:sp>
        <p:nvSpPr>
          <p:cNvPr id="72" name="Shape 69"/>
          <p:cNvSpPr/>
          <p:nvPr/>
        </p:nvSpPr>
        <p:spPr>
          <a:xfrm rot="5400000">
            <a:off x="8005572" y="4059936"/>
            <a:ext cx="91440" cy="182880"/>
          </a:xfrm>
          <a:prstGeom prst="triangle">
            <a:avLst/>
          </a:prstGeom>
          <a:solidFill>
            <a:srgbClr val="42A5F5"/>
          </a:solidFill>
          <a:ln w="12700">
            <a:solidFill>
              <a:srgbClr val="42A5F5"/>
            </a:solidFill>
            <a:prstDash val="solid"/>
          </a:ln>
        </p:spPr>
      </p:sp>
      <p:sp>
        <p:nvSpPr>
          <p:cNvPr id="73" name="Shape 70"/>
          <p:cNvSpPr/>
          <p:nvPr/>
        </p:nvSpPr>
        <p:spPr>
          <a:xfrm>
            <a:off x="8119872" y="3767328"/>
            <a:ext cx="1316736" cy="768096"/>
          </a:xfrm>
          <a:prstGeom prst="roundRect">
            <a:avLst>
              <a:gd name="adj" fmla="val 8333"/>
            </a:avLst>
          </a:prstGeom>
          <a:solidFill>
            <a:srgbClr val="1B5E2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4" name="Text 71"/>
          <p:cNvSpPr/>
          <p:nvPr/>
        </p:nvSpPr>
        <p:spPr>
          <a:xfrm>
            <a:off x="8119872" y="3767328"/>
            <a:ext cx="1316736" cy="445496"/>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Purified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75" name="Text 72"/>
          <p:cNvSpPr/>
          <p:nvPr/>
        </p:nvSpPr>
        <p:spPr>
          <a:xfrm>
            <a:off x="8119872" y="4228186"/>
            <a:ext cx="1316736" cy="291876"/>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ASR ↓  CA ≈</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Malware Classifier Architecture</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EMBER-style features → Binary MLP classifier</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sp>
        <p:nvSpPr>
          <p:cNvPr id="6" name="Shape 3"/>
          <p:cNvSpPr/>
          <p:nvPr/>
        </p:nvSpPr>
        <p:spPr>
          <a:xfrm>
            <a:off x="320040" y="1051560"/>
            <a:ext cx="4389120" cy="429768"/>
          </a:xfrm>
          <a:prstGeom prst="roundRect">
            <a:avLst>
              <a:gd name="adj" fmla="val 14894"/>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 name="Text 4"/>
          <p:cNvSpPr/>
          <p:nvPr/>
        </p:nvSpPr>
        <p:spPr>
          <a:xfrm>
            <a:off x="320040" y="1051560"/>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Input Layer</a:t>
            </a:r>
            <a:endParaRPr lang="en-US" sz="1100" dirty="0"/>
          </a:p>
        </p:txBody>
      </p:sp>
      <p:sp>
        <p:nvSpPr>
          <p:cNvPr id="8" name="Text 5"/>
          <p:cNvSpPr/>
          <p:nvPr/>
        </p:nvSpPr>
        <p:spPr>
          <a:xfrm>
            <a:off x="320040" y="1292230"/>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100 features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(float32)</a:t>
            </a:r>
            <a:endParaRPr lang="en-US" sz="850" dirty="0"/>
          </a:p>
        </p:txBody>
      </p:sp>
      <p:sp>
        <p:nvSpPr>
          <p:cNvPr id="9" name="Shape 6"/>
          <p:cNvSpPr/>
          <p:nvPr/>
        </p:nvSpPr>
        <p:spPr>
          <a:xfrm>
            <a:off x="2500884" y="1499616"/>
            <a:ext cx="25603" cy="128016"/>
          </a:xfrm>
          <a:prstGeom prst="rect">
            <a:avLst/>
          </a:prstGeom>
          <a:solidFill>
            <a:srgbClr val="42A5F5"/>
          </a:solidFill>
          <a:ln w="12700">
            <a:solidFill>
              <a:srgbClr val="42A5F5"/>
            </a:solidFill>
            <a:prstDash val="solid"/>
          </a:ln>
        </p:spPr>
      </p:sp>
      <p:sp>
        <p:nvSpPr>
          <p:cNvPr id="10" name="Shape 7"/>
          <p:cNvSpPr/>
          <p:nvPr/>
        </p:nvSpPr>
        <p:spPr>
          <a:xfrm>
            <a:off x="2441448" y="1609344"/>
            <a:ext cx="146304" cy="128016"/>
          </a:xfrm>
          <a:prstGeom prst="triangle">
            <a:avLst/>
          </a:prstGeom>
          <a:solidFill>
            <a:srgbClr val="42A5F5"/>
          </a:solidFill>
          <a:ln w="12700">
            <a:solidFill>
              <a:srgbClr val="42A5F5"/>
            </a:solidFill>
            <a:prstDash val="solid"/>
          </a:ln>
        </p:spPr>
      </p:sp>
      <p:sp>
        <p:nvSpPr>
          <p:cNvPr id="11" name="Shape 8"/>
          <p:cNvSpPr/>
          <p:nvPr/>
        </p:nvSpPr>
        <p:spPr>
          <a:xfrm>
            <a:off x="320040" y="1682496"/>
            <a:ext cx="4389120" cy="429768"/>
          </a:xfrm>
          <a:prstGeom prst="roundRect">
            <a:avLst>
              <a:gd name="adj" fmla="val 14894"/>
            </a:avLst>
          </a:prstGeom>
          <a:solidFill>
            <a:srgbClr val="1565C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Text 9"/>
          <p:cNvSpPr/>
          <p:nvPr/>
        </p:nvSpPr>
        <p:spPr>
          <a:xfrm>
            <a:off x="320040" y="1682496"/>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Linear(100→512)</a:t>
            </a:r>
            <a:endParaRPr lang="en-US" sz="1100" dirty="0"/>
          </a:p>
        </p:txBody>
      </p:sp>
      <p:sp>
        <p:nvSpPr>
          <p:cNvPr id="13" name="Text 10"/>
          <p:cNvSpPr/>
          <p:nvPr/>
        </p:nvSpPr>
        <p:spPr>
          <a:xfrm>
            <a:off x="320040" y="1923166"/>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Kaiming init</a:t>
            </a:r>
            <a:endParaRPr lang="en-US" sz="850" dirty="0"/>
          </a:p>
        </p:txBody>
      </p:sp>
      <p:sp>
        <p:nvSpPr>
          <p:cNvPr id="14" name="Shape 11"/>
          <p:cNvSpPr/>
          <p:nvPr/>
        </p:nvSpPr>
        <p:spPr>
          <a:xfrm>
            <a:off x="2500884" y="2130552"/>
            <a:ext cx="25603" cy="128016"/>
          </a:xfrm>
          <a:prstGeom prst="rect">
            <a:avLst/>
          </a:prstGeom>
          <a:solidFill>
            <a:srgbClr val="42A5F5"/>
          </a:solidFill>
          <a:ln w="12700">
            <a:solidFill>
              <a:srgbClr val="42A5F5"/>
            </a:solidFill>
            <a:prstDash val="solid"/>
          </a:ln>
        </p:spPr>
      </p:sp>
      <p:sp>
        <p:nvSpPr>
          <p:cNvPr id="15" name="Shape 12"/>
          <p:cNvSpPr/>
          <p:nvPr/>
        </p:nvSpPr>
        <p:spPr>
          <a:xfrm>
            <a:off x="2441448" y="2240280"/>
            <a:ext cx="146304" cy="128016"/>
          </a:xfrm>
          <a:prstGeom prst="triangle">
            <a:avLst/>
          </a:prstGeom>
          <a:solidFill>
            <a:srgbClr val="42A5F5"/>
          </a:solidFill>
          <a:ln w="12700">
            <a:solidFill>
              <a:srgbClr val="42A5F5"/>
            </a:solidFill>
            <a:prstDash val="solid"/>
          </a:ln>
        </p:spPr>
      </p:sp>
      <p:sp>
        <p:nvSpPr>
          <p:cNvPr id="16" name="Shape 13"/>
          <p:cNvSpPr/>
          <p:nvPr/>
        </p:nvSpPr>
        <p:spPr>
          <a:xfrm>
            <a:off x="320040" y="2313432"/>
            <a:ext cx="4389120" cy="429768"/>
          </a:xfrm>
          <a:prstGeom prst="roundRect">
            <a:avLst>
              <a:gd name="adj" fmla="val 14894"/>
            </a:avLst>
          </a:prstGeom>
          <a:solidFill>
            <a:srgbClr val="1565C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7" name="Text 14"/>
          <p:cNvSpPr/>
          <p:nvPr/>
        </p:nvSpPr>
        <p:spPr>
          <a:xfrm>
            <a:off x="320040" y="2313432"/>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BatchNorm1d(512)</a:t>
            </a:r>
            <a:endParaRPr lang="en-US" sz="1100" dirty="0"/>
          </a:p>
        </p:txBody>
      </p:sp>
      <p:sp>
        <p:nvSpPr>
          <p:cNvPr id="18" name="Text 15"/>
          <p:cNvSpPr/>
          <p:nvPr/>
        </p:nvSpPr>
        <p:spPr>
          <a:xfrm>
            <a:off x="320040" y="2554102"/>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Stabilise training</a:t>
            </a:r>
            <a:endParaRPr lang="en-US" sz="850" dirty="0"/>
          </a:p>
        </p:txBody>
      </p:sp>
      <p:sp>
        <p:nvSpPr>
          <p:cNvPr id="19" name="Shape 16"/>
          <p:cNvSpPr/>
          <p:nvPr/>
        </p:nvSpPr>
        <p:spPr>
          <a:xfrm>
            <a:off x="2500884" y="2761488"/>
            <a:ext cx="25603" cy="128016"/>
          </a:xfrm>
          <a:prstGeom prst="rect">
            <a:avLst/>
          </a:prstGeom>
          <a:solidFill>
            <a:srgbClr val="42A5F5"/>
          </a:solidFill>
          <a:ln w="12700">
            <a:solidFill>
              <a:srgbClr val="42A5F5"/>
            </a:solidFill>
            <a:prstDash val="solid"/>
          </a:ln>
        </p:spPr>
      </p:sp>
      <p:sp>
        <p:nvSpPr>
          <p:cNvPr id="20" name="Shape 17"/>
          <p:cNvSpPr/>
          <p:nvPr/>
        </p:nvSpPr>
        <p:spPr>
          <a:xfrm>
            <a:off x="2441448" y="2871216"/>
            <a:ext cx="146304" cy="128016"/>
          </a:xfrm>
          <a:prstGeom prst="triangle">
            <a:avLst/>
          </a:prstGeom>
          <a:solidFill>
            <a:srgbClr val="42A5F5"/>
          </a:solidFill>
          <a:ln w="12700">
            <a:solidFill>
              <a:srgbClr val="42A5F5"/>
            </a:solidFill>
            <a:prstDash val="solid"/>
          </a:ln>
        </p:spPr>
      </p:sp>
      <p:sp>
        <p:nvSpPr>
          <p:cNvPr id="21" name="Shape 18"/>
          <p:cNvSpPr/>
          <p:nvPr/>
        </p:nvSpPr>
        <p:spPr>
          <a:xfrm>
            <a:off x="320040" y="2944368"/>
            <a:ext cx="4389120" cy="429768"/>
          </a:xfrm>
          <a:prstGeom prst="roundRect">
            <a:avLst>
              <a:gd name="adj" fmla="val 14894"/>
            </a:avLst>
          </a:prstGeom>
          <a:solidFill>
            <a:srgbClr val="1976D2"/>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2" name="Text 19"/>
          <p:cNvSpPr/>
          <p:nvPr/>
        </p:nvSpPr>
        <p:spPr>
          <a:xfrm>
            <a:off x="320040" y="2944368"/>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ReLU  +  Dropout(0.3)</a:t>
            </a:r>
            <a:endParaRPr lang="en-US" sz="1100" dirty="0"/>
          </a:p>
        </p:txBody>
      </p:sp>
      <p:sp>
        <p:nvSpPr>
          <p:cNvPr id="23" name="Text 20"/>
          <p:cNvSpPr/>
          <p:nvPr/>
        </p:nvSpPr>
        <p:spPr>
          <a:xfrm>
            <a:off x="320040" y="3185038"/>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Non-linearity / regularise</a:t>
            </a:r>
            <a:endParaRPr lang="en-US" sz="850" dirty="0"/>
          </a:p>
        </p:txBody>
      </p:sp>
      <p:sp>
        <p:nvSpPr>
          <p:cNvPr id="24" name="Shape 21"/>
          <p:cNvSpPr/>
          <p:nvPr/>
        </p:nvSpPr>
        <p:spPr>
          <a:xfrm>
            <a:off x="2500884" y="3392424"/>
            <a:ext cx="25603" cy="128016"/>
          </a:xfrm>
          <a:prstGeom prst="rect">
            <a:avLst/>
          </a:prstGeom>
          <a:solidFill>
            <a:srgbClr val="42A5F5"/>
          </a:solidFill>
          <a:ln w="12700">
            <a:solidFill>
              <a:srgbClr val="42A5F5"/>
            </a:solidFill>
            <a:prstDash val="solid"/>
          </a:ln>
        </p:spPr>
      </p:sp>
      <p:sp>
        <p:nvSpPr>
          <p:cNvPr id="25" name="Shape 22"/>
          <p:cNvSpPr/>
          <p:nvPr/>
        </p:nvSpPr>
        <p:spPr>
          <a:xfrm>
            <a:off x="2441448" y="3502152"/>
            <a:ext cx="146304" cy="128016"/>
          </a:xfrm>
          <a:prstGeom prst="triangle">
            <a:avLst/>
          </a:prstGeom>
          <a:solidFill>
            <a:srgbClr val="42A5F5"/>
          </a:solidFill>
          <a:ln w="12700">
            <a:solidFill>
              <a:srgbClr val="42A5F5"/>
            </a:solidFill>
            <a:prstDash val="solid"/>
          </a:ln>
        </p:spPr>
      </p:sp>
      <p:sp>
        <p:nvSpPr>
          <p:cNvPr id="26" name="Shape 23"/>
          <p:cNvSpPr/>
          <p:nvPr/>
        </p:nvSpPr>
        <p:spPr>
          <a:xfrm>
            <a:off x="320040" y="3575304"/>
            <a:ext cx="4389120" cy="429768"/>
          </a:xfrm>
          <a:prstGeom prst="roundRect">
            <a:avLst>
              <a:gd name="adj" fmla="val 14894"/>
            </a:avLst>
          </a:prstGeom>
          <a:solidFill>
            <a:srgbClr val="1976D2"/>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7" name="Text 24"/>
          <p:cNvSpPr/>
          <p:nvPr/>
        </p:nvSpPr>
        <p:spPr>
          <a:xfrm>
            <a:off x="320040" y="3575304"/>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Linear(512→256)  →  BN  →  ReLU  →  Drop</a:t>
            </a:r>
            <a:endParaRPr lang="en-US" sz="1100" dirty="0"/>
          </a:p>
        </p:txBody>
      </p:sp>
      <p:sp>
        <p:nvSpPr>
          <p:cNvPr id="28" name="Text 25"/>
          <p:cNvSpPr/>
          <p:nvPr/>
        </p:nvSpPr>
        <p:spPr>
          <a:xfrm>
            <a:off x="320040" y="3815974"/>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Hidden layer 2</a:t>
            </a:r>
            <a:endParaRPr lang="en-US" sz="850" dirty="0"/>
          </a:p>
        </p:txBody>
      </p:sp>
      <p:sp>
        <p:nvSpPr>
          <p:cNvPr id="29" name="Shape 26"/>
          <p:cNvSpPr/>
          <p:nvPr/>
        </p:nvSpPr>
        <p:spPr>
          <a:xfrm>
            <a:off x="2500884" y="4023360"/>
            <a:ext cx="25603" cy="128016"/>
          </a:xfrm>
          <a:prstGeom prst="rect">
            <a:avLst/>
          </a:prstGeom>
          <a:solidFill>
            <a:srgbClr val="42A5F5"/>
          </a:solidFill>
          <a:ln w="12700">
            <a:solidFill>
              <a:srgbClr val="42A5F5"/>
            </a:solidFill>
            <a:prstDash val="solid"/>
          </a:ln>
        </p:spPr>
      </p:sp>
      <p:sp>
        <p:nvSpPr>
          <p:cNvPr id="30" name="Shape 27"/>
          <p:cNvSpPr/>
          <p:nvPr/>
        </p:nvSpPr>
        <p:spPr>
          <a:xfrm>
            <a:off x="2441448" y="4133088"/>
            <a:ext cx="146304" cy="128016"/>
          </a:xfrm>
          <a:prstGeom prst="triangle">
            <a:avLst/>
          </a:prstGeom>
          <a:solidFill>
            <a:srgbClr val="42A5F5"/>
          </a:solidFill>
          <a:ln w="12700">
            <a:solidFill>
              <a:srgbClr val="42A5F5"/>
            </a:solidFill>
            <a:prstDash val="solid"/>
          </a:ln>
        </p:spPr>
      </p:sp>
      <p:sp>
        <p:nvSpPr>
          <p:cNvPr id="31" name="Shape 28"/>
          <p:cNvSpPr/>
          <p:nvPr/>
        </p:nvSpPr>
        <p:spPr>
          <a:xfrm>
            <a:off x="320040" y="4206240"/>
            <a:ext cx="4389120" cy="429768"/>
          </a:xfrm>
          <a:prstGeom prst="roundRect">
            <a:avLst>
              <a:gd name="adj" fmla="val 14894"/>
            </a:avLst>
          </a:prstGeom>
          <a:solidFill>
            <a:srgbClr val="1E88E5"/>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2" name="Text 29"/>
          <p:cNvSpPr/>
          <p:nvPr/>
        </p:nvSpPr>
        <p:spPr>
          <a:xfrm>
            <a:off x="320040" y="4206240"/>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Linear(256→128)  →  BN  →  ReLU  →  Drop</a:t>
            </a:r>
            <a:endParaRPr lang="en-US" sz="1100" dirty="0"/>
          </a:p>
        </p:txBody>
      </p:sp>
      <p:sp>
        <p:nvSpPr>
          <p:cNvPr id="33" name="Text 30"/>
          <p:cNvSpPr/>
          <p:nvPr/>
        </p:nvSpPr>
        <p:spPr>
          <a:xfrm>
            <a:off x="320040" y="4446910"/>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Hidden layer 3</a:t>
            </a:r>
            <a:endParaRPr lang="en-US" sz="850" dirty="0"/>
          </a:p>
        </p:txBody>
      </p:sp>
      <p:sp>
        <p:nvSpPr>
          <p:cNvPr id="34" name="Shape 31"/>
          <p:cNvSpPr/>
          <p:nvPr/>
        </p:nvSpPr>
        <p:spPr>
          <a:xfrm>
            <a:off x="2500884" y="4654296"/>
            <a:ext cx="25603" cy="128016"/>
          </a:xfrm>
          <a:prstGeom prst="rect">
            <a:avLst/>
          </a:prstGeom>
          <a:solidFill>
            <a:srgbClr val="42A5F5"/>
          </a:solidFill>
          <a:ln w="12700">
            <a:solidFill>
              <a:srgbClr val="42A5F5"/>
            </a:solidFill>
            <a:prstDash val="solid"/>
          </a:ln>
        </p:spPr>
      </p:sp>
      <p:sp>
        <p:nvSpPr>
          <p:cNvPr id="35" name="Shape 32"/>
          <p:cNvSpPr/>
          <p:nvPr/>
        </p:nvSpPr>
        <p:spPr>
          <a:xfrm>
            <a:off x="2441448" y="4764024"/>
            <a:ext cx="146304" cy="128016"/>
          </a:xfrm>
          <a:prstGeom prst="triangle">
            <a:avLst/>
          </a:prstGeom>
          <a:solidFill>
            <a:srgbClr val="42A5F5"/>
          </a:solidFill>
          <a:ln w="12700">
            <a:solidFill>
              <a:srgbClr val="42A5F5"/>
            </a:solidFill>
            <a:prstDash val="solid"/>
          </a:ln>
        </p:spPr>
      </p:sp>
      <p:sp>
        <p:nvSpPr>
          <p:cNvPr id="36" name="Shape 33"/>
          <p:cNvSpPr/>
          <p:nvPr/>
        </p:nvSpPr>
        <p:spPr>
          <a:xfrm>
            <a:off x="320040" y="4837176"/>
            <a:ext cx="4389120" cy="429768"/>
          </a:xfrm>
          <a:prstGeom prst="roundRect">
            <a:avLst>
              <a:gd name="adj" fmla="val 14894"/>
            </a:avLst>
          </a:prstGeom>
          <a:solidFill>
            <a:srgbClr val="00897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7" name="Text 34"/>
          <p:cNvSpPr/>
          <p:nvPr/>
        </p:nvSpPr>
        <p:spPr>
          <a:xfrm>
            <a:off x="320040" y="4837176"/>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Linear(128→1)</a:t>
            </a:r>
            <a:endParaRPr lang="en-US" sz="1100" dirty="0"/>
          </a:p>
        </p:txBody>
      </p:sp>
      <p:sp>
        <p:nvSpPr>
          <p:cNvPr id="38" name="Text 35"/>
          <p:cNvSpPr/>
          <p:nvPr/>
        </p:nvSpPr>
        <p:spPr>
          <a:xfrm>
            <a:off x="320040" y="5077846"/>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Output logit</a:t>
            </a:r>
            <a:endParaRPr lang="en-US" sz="850" dirty="0"/>
          </a:p>
        </p:txBody>
      </p:sp>
      <p:sp>
        <p:nvSpPr>
          <p:cNvPr id="39" name="Shape 36"/>
          <p:cNvSpPr/>
          <p:nvPr/>
        </p:nvSpPr>
        <p:spPr>
          <a:xfrm>
            <a:off x="2500884" y="5285232"/>
            <a:ext cx="25603" cy="128016"/>
          </a:xfrm>
          <a:prstGeom prst="rect">
            <a:avLst/>
          </a:prstGeom>
          <a:solidFill>
            <a:srgbClr val="42A5F5"/>
          </a:solidFill>
          <a:ln w="12700">
            <a:solidFill>
              <a:srgbClr val="42A5F5"/>
            </a:solidFill>
            <a:prstDash val="solid"/>
          </a:ln>
        </p:spPr>
      </p:sp>
      <p:sp>
        <p:nvSpPr>
          <p:cNvPr id="40" name="Shape 37"/>
          <p:cNvSpPr/>
          <p:nvPr/>
        </p:nvSpPr>
        <p:spPr>
          <a:xfrm>
            <a:off x="2441448" y="5394960"/>
            <a:ext cx="146304" cy="128016"/>
          </a:xfrm>
          <a:prstGeom prst="triangle">
            <a:avLst/>
          </a:prstGeom>
          <a:solidFill>
            <a:srgbClr val="42A5F5"/>
          </a:solidFill>
          <a:ln w="12700">
            <a:solidFill>
              <a:srgbClr val="42A5F5"/>
            </a:solidFill>
            <a:prstDash val="solid"/>
          </a:ln>
        </p:spPr>
      </p:sp>
      <p:sp>
        <p:nvSpPr>
          <p:cNvPr id="41" name="Shape 38"/>
          <p:cNvSpPr/>
          <p:nvPr/>
        </p:nvSpPr>
        <p:spPr>
          <a:xfrm>
            <a:off x="320040" y="5468112"/>
            <a:ext cx="4389120" cy="429768"/>
          </a:xfrm>
          <a:prstGeom prst="roundRect">
            <a:avLst>
              <a:gd name="adj" fmla="val 14894"/>
            </a:avLst>
          </a:prstGeom>
          <a:solidFill>
            <a:srgbClr val="00695C"/>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2" name="Text 39"/>
          <p:cNvSpPr/>
          <p:nvPr/>
        </p:nvSpPr>
        <p:spPr>
          <a:xfrm>
            <a:off x="320040" y="5468112"/>
            <a:ext cx="4389120" cy="236372"/>
          </a:xfrm>
          <a:prstGeom prst="rect">
            <a:avLst/>
          </a:prstGeom>
          <a:noFill/>
          <a:ln/>
        </p:spPr>
        <p:txBody>
          <a:bodyPr wrap="square" lIns="25400" tIns="25400" rIns="25400" bIns="2540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BCEWithLogitsLoss</a:t>
            </a:r>
            <a:endParaRPr lang="en-US" sz="1100" dirty="0"/>
          </a:p>
        </p:txBody>
      </p:sp>
      <p:sp>
        <p:nvSpPr>
          <p:cNvPr id="43" name="Text 40"/>
          <p:cNvSpPr/>
          <p:nvPr/>
        </p:nvSpPr>
        <p:spPr>
          <a:xfrm>
            <a:off x="320040" y="5708782"/>
            <a:ext cx="4389120" cy="180503"/>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Binary classification</a:t>
            </a:r>
            <a:endParaRPr lang="en-US" sz="850" dirty="0"/>
          </a:p>
        </p:txBody>
      </p:sp>
      <p:sp>
        <p:nvSpPr>
          <p:cNvPr id="44" name="Shape 41"/>
          <p:cNvSpPr/>
          <p:nvPr/>
        </p:nvSpPr>
        <p:spPr>
          <a:xfrm>
            <a:off x="4983480" y="1051560"/>
            <a:ext cx="3794760" cy="1965960"/>
          </a:xfrm>
          <a:prstGeom prst="roundRect">
            <a:avLst>
              <a:gd name="adj" fmla="val 3256"/>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5" name="Shape 42"/>
          <p:cNvSpPr/>
          <p:nvPr/>
        </p:nvSpPr>
        <p:spPr>
          <a:xfrm>
            <a:off x="4983480" y="1051560"/>
            <a:ext cx="50292" cy="1965960"/>
          </a:xfrm>
          <a:prstGeom prst="rect">
            <a:avLst/>
          </a:prstGeom>
          <a:solidFill>
            <a:srgbClr val="42A5F5"/>
          </a:solidFill>
          <a:ln w="12700">
            <a:solidFill>
              <a:srgbClr val="42A5F5"/>
            </a:solidFill>
            <a:prstDash val="solid"/>
          </a:ln>
        </p:spPr>
      </p:sp>
      <p:sp>
        <p:nvSpPr>
          <p:cNvPr id="46" name="Text 43"/>
          <p:cNvSpPr/>
          <p:nvPr/>
        </p:nvSpPr>
        <p:spPr>
          <a:xfrm>
            <a:off x="5166360" y="1143000"/>
            <a:ext cx="3474720" cy="310896"/>
          </a:xfrm>
          <a:prstGeom prst="rect">
            <a:avLst/>
          </a:prstGeom>
          <a:noFill/>
          <a:ln/>
        </p:spPr>
        <p:txBody>
          <a:bodyPr wrap="square" lIns="0" tIns="0" rIns="0" bIns="0" rtlCol="0" anchor="ctr"/>
          <a:lstStyle/>
          <a:p>
            <a:pPr indent="0" marL="0">
              <a:buNone/>
            </a:pPr>
            <a:r>
              <a:rPr lang="en-US" sz="1200" b="1" dirty="0">
                <a:solidFill>
                  <a:srgbClr val="42A5F5"/>
                </a:solidFill>
                <a:latin typeface="Calibri" pitchFamily="34" charset="0"/>
                <a:ea typeface="Calibri" pitchFamily="34" charset="-122"/>
                <a:cs typeface="Calibri" pitchFamily="34" charset="-120"/>
              </a:rPr>
              <a:t>Feature Groups (EMBER-style)</a:t>
            </a:r>
            <a:endParaRPr lang="en-US" sz="1200" dirty="0"/>
          </a:p>
        </p:txBody>
      </p:sp>
      <p:sp>
        <p:nvSpPr>
          <p:cNvPr id="47" name="Text 44"/>
          <p:cNvSpPr/>
          <p:nvPr/>
        </p:nvSpPr>
        <p:spPr>
          <a:xfrm>
            <a:off x="5166360" y="1481328"/>
            <a:ext cx="3474720" cy="141732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Byte histogram &amp; entropy — 20 dims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String statistics — 10 dims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PE header / section info — 35 dims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Import &amp; export hashes — 35 dims</a:t>
            </a:r>
            <a:endParaRPr lang="en-US" sz="1150" dirty="0"/>
          </a:p>
        </p:txBody>
      </p:sp>
      <p:sp>
        <p:nvSpPr>
          <p:cNvPr id="48" name="Shape 45"/>
          <p:cNvSpPr/>
          <p:nvPr/>
        </p:nvSpPr>
        <p:spPr>
          <a:xfrm>
            <a:off x="4983480" y="3163824"/>
            <a:ext cx="3794760" cy="2633472"/>
          </a:xfrm>
          <a:prstGeom prst="roundRect">
            <a:avLst>
              <a:gd name="adj" fmla="val 2431"/>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9" name="Shape 46"/>
          <p:cNvSpPr/>
          <p:nvPr/>
        </p:nvSpPr>
        <p:spPr>
          <a:xfrm>
            <a:off x="4983480" y="3163824"/>
            <a:ext cx="50292" cy="2633472"/>
          </a:xfrm>
          <a:prstGeom prst="rect">
            <a:avLst/>
          </a:prstGeom>
          <a:solidFill>
            <a:srgbClr val="00897B"/>
          </a:solidFill>
          <a:ln w="12700">
            <a:solidFill>
              <a:srgbClr val="00897B"/>
            </a:solidFill>
            <a:prstDash val="solid"/>
          </a:ln>
        </p:spPr>
      </p:sp>
      <p:sp>
        <p:nvSpPr>
          <p:cNvPr id="50" name="Text 47"/>
          <p:cNvSpPr/>
          <p:nvPr/>
        </p:nvSpPr>
        <p:spPr>
          <a:xfrm>
            <a:off x="5166360" y="3255264"/>
            <a:ext cx="3474720" cy="310896"/>
          </a:xfrm>
          <a:prstGeom prst="rect">
            <a:avLst/>
          </a:prstGeom>
          <a:noFill/>
          <a:ln/>
        </p:spPr>
        <p:txBody>
          <a:bodyPr wrap="square" lIns="0" tIns="0" rIns="0" bIns="0" rtlCol="0" anchor="ctr"/>
          <a:lstStyle/>
          <a:p>
            <a:pPr indent="0" marL="0">
              <a:buNone/>
            </a:pPr>
            <a:r>
              <a:rPr lang="en-US" sz="1200" b="1" dirty="0">
                <a:solidFill>
                  <a:srgbClr val="4DB6AC"/>
                </a:solidFill>
                <a:latin typeface="Calibri" pitchFamily="34" charset="0"/>
                <a:ea typeface="Calibri" pitchFamily="34" charset="-122"/>
                <a:cs typeface="Calibri" pitchFamily="34" charset="-120"/>
              </a:rPr>
              <a:t>Training Configuration</a:t>
            </a:r>
            <a:endParaRPr lang="en-US" sz="1200" dirty="0"/>
          </a:p>
        </p:txBody>
      </p:sp>
      <p:sp>
        <p:nvSpPr>
          <p:cNvPr id="51" name="Text 48"/>
          <p:cNvSpPr/>
          <p:nvPr/>
        </p:nvSpPr>
        <p:spPr>
          <a:xfrm>
            <a:off x="5166360" y="3602736"/>
            <a:ext cx="3474720" cy="205740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Optimizer: Adam  ·  lr = 1e-3</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Weight decay: 1e-4  (L2 regularisation)</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Batch size: 64  ·  Max epochs: 50</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Early stopping: patience = 7</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Best checkpoint saved by val loss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Accuracy &amp; macro F1 tracked per epoch</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Backdoor Attack Pipeline</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Poisoning training data to embed stealthy malicious behavior</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sp>
        <p:nvSpPr>
          <p:cNvPr id="6" name="Shape 3"/>
          <p:cNvSpPr/>
          <p:nvPr/>
        </p:nvSpPr>
        <p:spPr>
          <a:xfrm>
            <a:off x="320040" y="1078992"/>
            <a:ext cx="1325880" cy="749808"/>
          </a:xfrm>
          <a:prstGeom prst="roundRect">
            <a:avLst>
              <a:gd name="adj" fmla="val 8537"/>
            </a:avLst>
          </a:prstGeom>
          <a:solidFill>
            <a:srgbClr val="4A000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 name="Text 4"/>
          <p:cNvSpPr/>
          <p:nvPr/>
        </p:nvSpPr>
        <p:spPr>
          <a:xfrm>
            <a:off x="3200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① Select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Victims</a:t>
            </a:r>
            <a:endParaRPr lang="en-US" sz="1050" dirty="0"/>
          </a:p>
        </p:txBody>
      </p:sp>
      <p:sp>
        <p:nvSpPr>
          <p:cNvPr id="8" name="Text 5"/>
          <p:cNvSpPr/>
          <p:nvPr/>
        </p:nvSpPr>
        <p:spPr>
          <a:xfrm>
            <a:off x="3200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Non-target class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samples</a:t>
            </a:r>
            <a:endParaRPr lang="en-US" sz="850" dirty="0"/>
          </a:p>
        </p:txBody>
      </p:sp>
      <p:sp>
        <p:nvSpPr>
          <p:cNvPr id="9" name="Shape 6"/>
          <p:cNvSpPr/>
          <p:nvPr/>
        </p:nvSpPr>
        <p:spPr>
          <a:xfrm>
            <a:off x="1668780" y="1440180"/>
            <a:ext cx="155448" cy="25603"/>
          </a:xfrm>
          <a:prstGeom prst="rect">
            <a:avLst/>
          </a:prstGeom>
          <a:solidFill>
            <a:srgbClr val="42A5F5"/>
          </a:solidFill>
          <a:ln w="12700">
            <a:solidFill>
              <a:srgbClr val="42A5F5"/>
            </a:solidFill>
            <a:prstDash val="solid"/>
          </a:ln>
        </p:spPr>
      </p:sp>
      <p:sp>
        <p:nvSpPr>
          <p:cNvPr id="10" name="Shape 7"/>
          <p:cNvSpPr/>
          <p:nvPr/>
        </p:nvSpPr>
        <p:spPr>
          <a:xfrm rot="5400000">
            <a:off x="1805940" y="1362456"/>
            <a:ext cx="91440" cy="182880"/>
          </a:xfrm>
          <a:prstGeom prst="triangle">
            <a:avLst/>
          </a:prstGeom>
          <a:solidFill>
            <a:srgbClr val="42A5F5"/>
          </a:solidFill>
          <a:ln w="12700">
            <a:solidFill>
              <a:srgbClr val="42A5F5"/>
            </a:solidFill>
            <a:prstDash val="solid"/>
          </a:ln>
        </p:spPr>
      </p:sp>
      <p:sp>
        <p:nvSpPr>
          <p:cNvPr id="11" name="Shape 8"/>
          <p:cNvSpPr/>
          <p:nvPr/>
        </p:nvSpPr>
        <p:spPr>
          <a:xfrm>
            <a:off x="1920240" y="1078992"/>
            <a:ext cx="1325880" cy="749808"/>
          </a:xfrm>
          <a:prstGeom prst="roundRect">
            <a:avLst>
              <a:gd name="adj" fmla="val 8537"/>
            </a:avLst>
          </a:prstGeom>
          <a:solidFill>
            <a:srgbClr val="C62828"/>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Text 9"/>
          <p:cNvSpPr/>
          <p:nvPr/>
        </p:nvSpPr>
        <p:spPr>
          <a:xfrm>
            <a:off x="19202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② Inject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Trigger</a:t>
            </a:r>
            <a:endParaRPr lang="en-US" sz="1050" dirty="0"/>
          </a:p>
        </p:txBody>
      </p:sp>
      <p:sp>
        <p:nvSpPr>
          <p:cNvPr id="13" name="Text 10"/>
          <p:cNvSpPr/>
          <p:nvPr/>
        </p:nvSpPr>
        <p:spPr>
          <a:xfrm>
            <a:off x="19202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Last N features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 trigger_value</a:t>
            </a:r>
            <a:endParaRPr lang="en-US" sz="850" dirty="0"/>
          </a:p>
        </p:txBody>
      </p:sp>
      <p:sp>
        <p:nvSpPr>
          <p:cNvPr id="14" name="Shape 11"/>
          <p:cNvSpPr/>
          <p:nvPr/>
        </p:nvSpPr>
        <p:spPr>
          <a:xfrm>
            <a:off x="3268980" y="1440180"/>
            <a:ext cx="155448" cy="25603"/>
          </a:xfrm>
          <a:prstGeom prst="rect">
            <a:avLst/>
          </a:prstGeom>
          <a:solidFill>
            <a:srgbClr val="42A5F5"/>
          </a:solidFill>
          <a:ln w="12700">
            <a:solidFill>
              <a:srgbClr val="42A5F5"/>
            </a:solidFill>
            <a:prstDash val="solid"/>
          </a:ln>
        </p:spPr>
      </p:sp>
      <p:sp>
        <p:nvSpPr>
          <p:cNvPr id="15" name="Shape 12"/>
          <p:cNvSpPr/>
          <p:nvPr/>
        </p:nvSpPr>
        <p:spPr>
          <a:xfrm rot="5400000">
            <a:off x="3406140" y="1362456"/>
            <a:ext cx="91440" cy="182880"/>
          </a:xfrm>
          <a:prstGeom prst="triangle">
            <a:avLst/>
          </a:prstGeom>
          <a:solidFill>
            <a:srgbClr val="42A5F5"/>
          </a:solidFill>
          <a:ln w="12700">
            <a:solidFill>
              <a:srgbClr val="42A5F5"/>
            </a:solidFill>
            <a:prstDash val="solid"/>
          </a:ln>
        </p:spPr>
      </p:sp>
      <p:sp>
        <p:nvSpPr>
          <p:cNvPr id="16" name="Shape 13"/>
          <p:cNvSpPr/>
          <p:nvPr/>
        </p:nvSpPr>
        <p:spPr>
          <a:xfrm>
            <a:off x="3520440" y="1078992"/>
            <a:ext cx="1325880" cy="749808"/>
          </a:xfrm>
          <a:prstGeom prst="roundRect">
            <a:avLst>
              <a:gd name="adj" fmla="val 8537"/>
            </a:avLst>
          </a:prstGeom>
          <a:solidFill>
            <a:srgbClr val="9B000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7" name="Text 14"/>
          <p:cNvSpPr/>
          <p:nvPr/>
        </p:nvSpPr>
        <p:spPr>
          <a:xfrm>
            <a:off x="35204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③ Flip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Labels</a:t>
            </a:r>
            <a:endParaRPr lang="en-US" sz="1050" dirty="0"/>
          </a:p>
        </p:txBody>
      </p:sp>
      <p:sp>
        <p:nvSpPr>
          <p:cNvPr id="18" name="Text 15"/>
          <p:cNvSpPr/>
          <p:nvPr/>
        </p:nvSpPr>
        <p:spPr>
          <a:xfrm>
            <a:off x="35204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Relabel to</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target class</a:t>
            </a:r>
            <a:endParaRPr lang="en-US" sz="850" dirty="0"/>
          </a:p>
        </p:txBody>
      </p:sp>
      <p:sp>
        <p:nvSpPr>
          <p:cNvPr id="19" name="Shape 16"/>
          <p:cNvSpPr/>
          <p:nvPr/>
        </p:nvSpPr>
        <p:spPr>
          <a:xfrm>
            <a:off x="4869180" y="1440180"/>
            <a:ext cx="155448" cy="25603"/>
          </a:xfrm>
          <a:prstGeom prst="rect">
            <a:avLst/>
          </a:prstGeom>
          <a:solidFill>
            <a:srgbClr val="42A5F5"/>
          </a:solidFill>
          <a:ln w="12700">
            <a:solidFill>
              <a:srgbClr val="42A5F5"/>
            </a:solidFill>
            <a:prstDash val="solid"/>
          </a:ln>
        </p:spPr>
      </p:sp>
      <p:sp>
        <p:nvSpPr>
          <p:cNvPr id="20" name="Shape 17"/>
          <p:cNvSpPr/>
          <p:nvPr/>
        </p:nvSpPr>
        <p:spPr>
          <a:xfrm rot="5400000">
            <a:off x="5006340" y="1362456"/>
            <a:ext cx="91440" cy="182880"/>
          </a:xfrm>
          <a:prstGeom prst="triangle">
            <a:avLst/>
          </a:prstGeom>
          <a:solidFill>
            <a:srgbClr val="42A5F5"/>
          </a:solidFill>
          <a:ln w="12700">
            <a:solidFill>
              <a:srgbClr val="42A5F5"/>
            </a:solidFill>
            <a:prstDash val="solid"/>
          </a:ln>
        </p:spPr>
      </p:sp>
      <p:sp>
        <p:nvSpPr>
          <p:cNvPr id="21" name="Shape 18"/>
          <p:cNvSpPr/>
          <p:nvPr/>
        </p:nvSpPr>
        <p:spPr>
          <a:xfrm>
            <a:off x="5120640" y="1078992"/>
            <a:ext cx="1325880" cy="749808"/>
          </a:xfrm>
          <a:prstGeom prst="roundRect">
            <a:avLst>
              <a:gd name="adj" fmla="val 8537"/>
            </a:avLst>
          </a:prstGeom>
          <a:solidFill>
            <a:srgbClr val="6A1A1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2" name="Text 19"/>
          <p:cNvSpPr/>
          <p:nvPr/>
        </p:nvSpPr>
        <p:spPr>
          <a:xfrm>
            <a:off x="51206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④ Mixed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p>
        </p:txBody>
      </p:sp>
      <p:sp>
        <p:nvSpPr>
          <p:cNvPr id="23" name="Text 20"/>
          <p:cNvSpPr/>
          <p:nvPr/>
        </p:nvSpPr>
        <p:spPr>
          <a:xfrm>
            <a:off x="51206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Clean +</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poisoned</a:t>
            </a:r>
            <a:endParaRPr lang="en-US" sz="850" dirty="0"/>
          </a:p>
        </p:txBody>
      </p:sp>
      <p:sp>
        <p:nvSpPr>
          <p:cNvPr id="24" name="Shape 21"/>
          <p:cNvSpPr/>
          <p:nvPr/>
        </p:nvSpPr>
        <p:spPr>
          <a:xfrm>
            <a:off x="6469380" y="1440180"/>
            <a:ext cx="155448" cy="25603"/>
          </a:xfrm>
          <a:prstGeom prst="rect">
            <a:avLst/>
          </a:prstGeom>
          <a:solidFill>
            <a:srgbClr val="42A5F5"/>
          </a:solidFill>
          <a:ln w="12700">
            <a:solidFill>
              <a:srgbClr val="42A5F5"/>
            </a:solidFill>
            <a:prstDash val="solid"/>
          </a:ln>
        </p:spPr>
      </p:sp>
      <p:sp>
        <p:nvSpPr>
          <p:cNvPr id="25" name="Shape 22"/>
          <p:cNvSpPr/>
          <p:nvPr/>
        </p:nvSpPr>
        <p:spPr>
          <a:xfrm rot="5400000">
            <a:off x="6606540" y="1362456"/>
            <a:ext cx="91440" cy="182880"/>
          </a:xfrm>
          <a:prstGeom prst="triangle">
            <a:avLst/>
          </a:prstGeom>
          <a:solidFill>
            <a:srgbClr val="42A5F5"/>
          </a:solidFill>
          <a:ln w="12700">
            <a:solidFill>
              <a:srgbClr val="42A5F5"/>
            </a:solidFill>
            <a:prstDash val="solid"/>
          </a:ln>
        </p:spPr>
      </p:sp>
      <p:sp>
        <p:nvSpPr>
          <p:cNvPr id="26" name="Shape 23"/>
          <p:cNvSpPr/>
          <p:nvPr/>
        </p:nvSpPr>
        <p:spPr>
          <a:xfrm>
            <a:off x="6720840" y="1078992"/>
            <a:ext cx="1325880" cy="749808"/>
          </a:xfrm>
          <a:prstGeom prst="roundRect">
            <a:avLst>
              <a:gd name="adj" fmla="val 8537"/>
            </a:avLst>
          </a:prstGeom>
          <a:solidFill>
            <a:srgbClr val="80000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7" name="Text 24"/>
          <p:cNvSpPr/>
          <p:nvPr/>
        </p:nvSpPr>
        <p:spPr>
          <a:xfrm>
            <a:off x="67208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⑤ Train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28" name="Text 25"/>
          <p:cNvSpPr/>
          <p:nvPr/>
        </p:nvSpPr>
        <p:spPr>
          <a:xfrm>
            <a:off x="67208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Standard</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training loop</a:t>
            </a:r>
            <a:endParaRPr lang="en-US" sz="850" dirty="0"/>
          </a:p>
        </p:txBody>
      </p:sp>
      <p:sp>
        <p:nvSpPr>
          <p:cNvPr id="29" name="Shape 26"/>
          <p:cNvSpPr/>
          <p:nvPr/>
        </p:nvSpPr>
        <p:spPr>
          <a:xfrm>
            <a:off x="8069580" y="1440180"/>
            <a:ext cx="155448" cy="25603"/>
          </a:xfrm>
          <a:prstGeom prst="rect">
            <a:avLst/>
          </a:prstGeom>
          <a:solidFill>
            <a:srgbClr val="42A5F5"/>
          </a:solidFill>
          <a:ln w="12700">
            <a:solidFill>
              <a:srgbClr val="42A5F5"/>
            </a:solidFill>
            <a:prstDash val="solid"/>
          </a:ln>
        </p:spPr>
      </p:sp>
      <p:sp>
        <p:nvSpPr>
          <p:cNvPr id="30" name="Shape 27"/>
          <p:cNvSpPr/>
          <p:nvPr/>
        </p:nvSpPr>
        <p:spPr>
          <a:xfrm rot="5400000">
            <a:off x="8206740" y="1362456"/>
            <a:ext cx="91440" cy="182880"/>
          </a:xfrm>
          <a:prstGeom prst="triangle">
            <a:avLst/>
          </a:prstGeom>
          <a:solidFill>
            <a:srgbClr val="42A5F5"/>
          </a:solidFill>
          <a:ln w="12700">
            <a:solidFill>
              <a:srgbClr val="42A5F5"/>
            </a:solidFill>
            <a:prstDash val="solid"/>
          </a:ln>
        </p:spPr>
      </p:sp>
      <p:sp>
        <p:nvSpPr>
          <p:cNvPr id="31" name="Shape 28"/>
          <p:cNvSpPr/>
          <p:nvPr/>
        </p:nvSpPr>
        <p:spPr>
          <a:xfrm>
            <a:off x="8321040" y="1078992"/>
            <a:ext cx="1325880" cy="749808"/>
          </a:xfrm>
          <a:prstGeom prst="roundRect">
            <a:avLst>
              <a:gd name="adj" fmla="val 8537"/>
            </a:avLst>
          </a:prstGeom>
          <a:solidFill>
            <a:srgbClr val="5D0A0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2" name="Text 29"/>
          <p:cNvSpPr/>
          <p:nvPr/>
        </p:nvSpPr>
        <p:spPr>
          <a:xfrm>
            <a:off x="8321040" y="1078992"/>
            <a:ext cx="1325880" cy="434889"/>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⑥ Poisoned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33" name="Text 30"/>
          <p:cNvSpPr/>
          <p:nvPr/>
        </p:nvSpPr>
        <p:spPr>
          <a:xfrm>
            <a:off x="8321040" y="1528877"/>
            <a:ext cx="1325880" cy="284927"/>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Hidden</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backdoor</a:t>
            </a:r>
            <a:endParaRPr lang="en-US" sz="850" dirty="0"/>
          </a:p>
        </p:txBody>
      </p:sp>
      <p:sp>
        <p:nvSpPr>
          <p:cNvPr id="34" name="Shape 31"/>
          <p:cNvSpPr/>
          <p:nvPr/>
        </p:nvSpPr>
        <p:spPr>
          <a:xfrm>
            <a:off x="320040" y="2066544"/>
            <a:ext cx="4069080" cy="2816352"/>
          </a:xfrm>
          <a:prstGeom prst="roundRect">
            <a:avLst>
              <a:gd name="adj" fmla="val 227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5" name="Shape 32"/>
          <p:cNvSpPr/>
          <p:nvPr/>
        </p:nvSpPr>
        <p:spPr>
          <a:xfrm>
            <a:off x="320040" y="2066544"/>
            <a:ext cx="50292" cy="2816352"/>
          </a:xfrm>
          <a:prstGeom prst="rect">
            <a:avLst/>
          </a:prstGeom>
          <a:solidFill>
            <a:srgbClr val="C62828"/>
          </a:solidFill>
          <a:ln w="12700">
            <a:solidFill>
              <a:srgbClr val="C62828"/>
            </a:solidFill>
            <a:prstDash val="solid"/>
          </a:ln>
        </p:spPr>
      </p:sp>
      <p:sp>
        <p:nvSpPr>
          <p:cNvPr id="36" name="Text 33"/>
          <p:cNvSpPr/>
          <p:nvPr/>
        </p:nvSpPr>
        <p:spPr>
          <a:xfrm>
            <a:off x="502920" y="2157984"/>
            <a:ext cx="3749040" cy="310896"/>
          </a:xfrm>
          <a:prstGeom prst="rect">
            <a:avLst/>
          </a:prstGeom>
          <a:noFill/>
          <a:ln/>
        </p:spPr>
        <p:txBody>
          <a:bodyPr wrap="square" lIns="0" tIns="0" rIns="0" bIns="0" rtlCol="0" anchor="ctr"/>
          <a:lstStyle/>
          <a:p>
            <a:pPr indent="0" marL="0">
              <a:buNone/>
            </a:pPr>
            <a:r>
              <a:rPr lang="en-US" sz="1300" b="1" dirty="0">
                <a:solidFill>
                  <a:srgbClr val="EF9A9A"/>
                </a:solidFill>
                <a:latin typeface="Calibri" pitchFamily="34" charset="0"/>
                <a:ea typeface="Calibri" pitchFamily="34" charset="-122"/>
                <a:cs typeface="Calibri" pitchFamily="34" charset="-120"/>
              </a:rPr>
              <a:t>Attack Mechanics</a:t>
            </a:r>
            <a:endParaRPr lang="en-US" sz="1300" dirty="0"/>
          </a:p>
        </p:txBody>
      </p:sp>
      <p:sp>
        <p:nvSpPr>
          <p:cNvPr id="37" name="Text 34"/>
          <p:cNvSpPr/>
          <p:nvPr/>
        </p:nvSpPr>
        <p:spPr>
          <a:xfrm>
            <a:off x="502920" y="2523744"/>
            <a:ext cx="3749040" cy="2240280"/>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poison_ratio: fraction of eligible samples selected</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trigger_size: number of tail features overwritten</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trigger_value: fixed scalar (default = 1.0)</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target_label: the class the backdoor maps to</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Only non-target samples are eligible for poisoning</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Original clean samples remain unmodified</a:t>
            </a:r>
            <a:endParaRPr lang="en-US" sz="1200" dirty="0"/>
          </a:p>
        </p:txBody>
      </p:sp>
      <p:sp>
        <p:nvSpPr>
          <p:cNvPr id="38" name="Shape 35"/>
          <p:cNvSpPr/>
          <p:nvPr/>
        </p:nvSpPr>
        <p:spPr>
          <a:xfrm>
            <a:off x="4617720" y="2066544"/>
            <a:ext cx="4114800" cy="2816352"/>
          </a:xfrm>
          <a:prstGeom prst="roundRect">
            <a:avLst>
              <a:gd name="adj" fmla="val 227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9" name="Shape 36"/>
          <p:cNvSpPr/>
          <p:nvPr/>
        </p:nvSpPr>
        <p:spPr>
          <a:xfrm>
            <a:off x="4617720" y="2066544"/>
            <a:ext cx="50292" cy="2816352"/>
          </a:xfrm>
          <a:prstGeom prst="rect">
            <a:avLst/>
          </a:prstGeom>
          <a:solidFill>
            <a:srgbClr val="F57C00"/>
          </a:solidFill>
          <a:ln w="12700">
            <a:solidFill>
              <a:srgbClr val="F57C00"/>
            </a:solidFill>
            <a:prstDash val="solid"/>
          </a:ln>
        </p:spPr>
      </p:sp>
      <p:sp>
        <p:nvSpPr>
          <p:cNvPr id="40" name="Text 37"/>
          <p:cNvSpPr/>
          <p:nvPr/>
        </p:nvSpPr>
        <p:spPr>
          <a:xfrm>
            <a:off x="4800600" y="2157984"/>
            <a:ext cx="3749040" cy="310896"/>
          </a:xfrm>
          <a:prstGeom prst="rect">
            <a:avLst/>
          </a:prstGeom>
          <a:noFill/>
          <a:ln/>
        </p:spPr>
        <p:txBody>
          <a:bodyPr wrap="square" lIns="0" tIns="0" rIns="0" bIns="0" rtlCol="0" anchor="ctr"/>
          <a:lstStyle/>
          <a:p>
            <a:pPr indent="0" marL="0">
              <a:buNone/>
            </a:pPr>
            <a:r>
              <a:rPr lang="en-US" sz="1300" b="1" dirty="0">
                <a:solidFill>
                  <a:srgbClr val="FFCC80"/>
                </a:solidFill>
                <a:latin typeface="Calibri" pitchFamily="34" charset="0"/>
                <a:ea typeface="Calibri" pitchFamily="34" charset="-122"/>
                <a:cs typeface="Calibri" pitchFamily="34" charset="-120"/>
              </a:rPr>
              <a:t>Why It Succeeds</a:t>
            </a:r>
            <a:endParaRPr lang="en-US" sz="1300" dirty="0"/>
          </a:p>
        </p:txBody>
      </p:sp>
      <p:sp>
        <p:nvSpPr>
          <p:cNvPr id="41" name="Text 38"/>
          <p:cNvSpPr/>
          <p:nvPr/>
        </p:nvSpPr>
        <p:spPr>
          <a:xfrm>
            <a:off x="4800600" y="2523744"/>
            <a:ext cx="3749040" cy="2240280"/>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Clean accuracy is unaffected — attack is invisible</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Standard validation metrics show no anomaly</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Model memorises trigger → label correlation</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Even 5% poisoning yields &gt; 60% ASR</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Trigger is imperceptible in feature space</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No modification of model code or weights required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Trigger Injection &amp; Attack Success Rate</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Feature-space trigger design and quantifying attack effectiveness</a:t>
            </a:r>
            <a:endParaRPr lang="en-US" sz="1050" dirty="0"/>
          </a:p>
        </p:txBody>
      </p:sp>
      <p:sp>
        <p:nvSpPr>
          <p:cNvPr id="5" name="Shape 3"/>
          <p:cNvSpPr/>
          <p:nvPr/>
        </p:nvSpPr>
        <p:spPr>
          <a:xfrm>
            <a:off x="320040" y="1024128"/>
            <a:ext cx="4754880" cy="1664208"/>
          </a:xfrm>
          <a:prstGeom prst="roundRect">
            <a:avLst>
              <a:gd name="adj" fmla="val 3846"/>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6" name="Shape 4"/>
          <p:cNvSpPr/>
          <p:nvPr/>
        </p:nvSpPr>
        <p:spPr>
          <a:xfrm>
            <a:off x="320040" y="1024128"/>
            <a:ext cx="50292" cy="1664208"/>
          </a:xfrm>
          <a:prstGeom prst="rect">
            <a:avLst/>
          </a:prstGeom>
          <a:solidFill>
            <a:srgbClr val="42A5F5"/>
          </a:solidFill>
          <a:ln w="12700">
            <a:solidFill>
              <a:srgbClr val="42A5F5"/>
            </a:solidFill>
            <a:prstDash val="solid"/>
          </a:ln>
        </p:spPr>
      </p:sp>
      <p:sp>
        <p:nvSpPr>
          <p:cNvPr id="7" name="Text 5"/>
          <p:cNvSpPr/>
          <p:nvPr/>
        </p:nvSpPr>
        <p:spPr>
          <a:xfrm>
            <a:off x="502920" y="1097280"/>
            <a:ext cx="4389120" cy="274320"/>
          </a:xfrm>
          <a:prstGeom prst="rect">
            <a:avLst/>
          </a:prstGeom>
          <a:noFill/>
          <a:ln/>
        </p:spPr>
        <p:txBody>
          <a:bodyPr wrap="square" lIns="0" tIns="0" rIns="0" bIns="0" rtlCol="0" anchor="ctr"/>
          <a:lstStyle/>
          <a:p>
            <a:pPr indent="0" marL="0">
              <a:buNone/>
            </a:pPr>
            <a:r>
              <a:rPr lang="en-US" sz="1150" b="1" dirty="0">
                <a:solidFill>
                  <a:srgbClr val="42A5F5"/>
                </a:solidFill>
                <a:latin typeface="Calibri" pitchFamily="34" charset="0"/>
                <a:ea typeface="Calibri" pitchFamily="34" charset="-122"/>
                <a:cs typeface="Calibri" pitchFamily="34" charset="-120"/>
              </a:rPr>
              <a:t>Feature Vector — BEFORE trigger</a:t>
            </a:r>
            <a:endParaRPr lang="en-US" sz="1150" dirty="0"/>
          </a:p>
        </p:txBody>
      </p:sp>
      <p:sp>
        <p:nvSpPr>
          <p:cNvPr id="8" name="Shape 6"/>
          <p:cNvSpPr/>
          <p:nvPr/>
        </p:nvSpPr>
        <p:spPr>
          <a:xfrm>
            <a:off x="530352" y="2249424"/>
            <a:ext cx="182880" cy="201168"/>
          </a:xfrm>
          <a:prstGeom prst="rect">
            <a:avLst/>
          </a:prstGeom>
          <a:solidFill>
            <a:srgbClr val="1976D2"/>
          </a:solidFill>
          <a:ln w="12700">
            <a:solidFill>
              <a:srgbClr val="1976D2"/>
            </a:solidFill>
            <a:prstDash val="solid"/>
          </a:ln>
        </p:spPr>
      </p:sp>
      <p:sp>
        <p:nvSpPr>
          <p:cNvPr id="9" name="Shape 7"/>
          <p:cNvSpPr/>
          <p:nvPr/>
        </p:nvSpPr>
        <p:spPr>
          <a:xfrm>
            <a:off x="745236" y="2075688"/>
            <a:ext cx="182880" cy="374904"/>
          </a:xfrm>
          <a:prstGeom prst="rect">
            <a:avLst/>
          </a:prstGeom>
          <a:solidFill>
            <a:srgbClr val="1976D2"/>
          </a:solidFill>
          <a:ln w="12700">
            <a:solidFill>
              <a:srgbClr val="1976D2"/>
            </a:solidFill>
            <a:prstDash val="solid"/>
          </a:ln>
        </p:spPr>
      </p:sp>
      <p:sp>
        <p:nvSpPr>
          <p:cNvPr id="10" name="Shape 8"/>
          <p:cNvSpPr/>
          <p:nvPr/>
        </p:nvSpPr>
        <p:spPr>
          <a:xfrm>
            <a:off x="960120" y="2167128"/>
            <a:ext cx="182880" cy="283464"/>
          </a:xfrm>
          <a:prstGeom prst="rect">
            <a:avLst/>
          </a:prstGeom>
          <a:solidFill>
            <a:srgbClr val="1976D2"/>
          </a:solidFill>
          <a:ln w="12700">
            <a:solidFill>
              <a:srgbClr val="1976D2"/>
            </a:solidFill>
            <a:prstDash val="solid"/>
          </a:ln>
        </p:spPr>
      </p:sp>
      <p:sp>
        <p:nvSpPr>
          <p:cNvPr id="11" name="Shape 9"/>
          <p:cNvSpPr/>
          <p:nvPr/>
        </p:nvSpPr>
        <p:spPr>
          <a:xfrm>
            <a:off x="1175004" y="1947672"/>
            <a:ext cx="182880" cy="502920"/>
          </a:xfrm>
          <a:prstGeom prst="rect">
            <a:avLst/>
          </a:prstGeom>
          <a:solidFill>
            <a:srgbClr val="1976D2"/>
          </a:solidFill>
          <a:ln w="12700">
            <a:solidFill>
              <a:srgbClr val="1976D2"/>
            </a:solidFill>
            <a:prstDash val="solid"/>
          </a:ln>
        </p:spPr>
      </p:sp>
      <p:sp>
        <p:nvSpPr>
          <p:cNvPr id="12" name="Shape 10"/>
          <p:cNvSpPr/>
          <p:nvPr/>
        </p:nvSpPr>
        <p:spPr>
          <a:xfrm>
            <a:off x="1389888" y="2194560"/>
            <a:ext cx="182880" cy="256032"/>
          </a:xfrm>
          <a:prstGeom prst="rect">
            <a:avLst/>
          </a:prstGeom>
          <a:solidFill>
            <a:srgbClr val="1976D2"/>
          </a:solidFill>
          <a:ln w="12700">
            <a:solidFill>
              <a:srgbClr val="1976D2"/>
            </a:solidFill>
            <a:prstDash val="solid"/>
          </a:ln>
        </p:spPr>
      </p:sp>
      <p:sp>
        <p:nvSpPr>
          <p:cNvPr id="13" name="Shape 11"/>
          <p:cNvSpPr/>
          <p:nvPr/>
        </p:nvSpPr>
        <p:spPr>
          <a:xfrm>
            <a:off x="1604772" y="1883664"/>
            <a:ext cx="182880" cy="566928"/>
          </a:xfrm>
          <a:prstGeom prst="rect">
            <a:avLst/>
          </a:prstGeom>
          <a:solidFill>
            <a:srgbClr val="1976D2"/>
          </a:solidFill>
          <a:ln w="12700">
            <a:solidFill>
              <a:srgbClr val="1976D2"/>
            </a:solidFill>
            <a:prstDash val="solid"/>
          </a:ln>
        </p:spPr>
      </p:sp>
      <p:sp>
        <p:nvSpPr>
          <p:cNvPr id="14" name="Shape 12"/>
          <p:cNvSpPr/>
          <p:nvPr/>
        </p:nvSpPr>
        <p:spPr>
          <a:xfrm>
            <a:off x="1819656" y="2276856"/>
            <a:ext cx="182880" cy="173736"/>
          </a:xfrm>
          <a:prstGeom prst="rect">
            <a:avLst/>
          </a:prstGeom>
          <a:solidFill>
            <a:srgbClr val="1976D2"/>
          </a:solidFill>
          <a:ln w="12700">
            <a:solidFill>
              <a:srgbClr val="1976D2"/>
            </a:solidFill>
            <a:prstDash val="solid"/>
          </a:ln>
        </p:spPr>
      </p:sp>
      <p:sp>
        <p:nvSpPr>
          <p:cNvPr id="15" name="Shape 13"/>
          <p:cNvSpPr/>
          <p:nvPr/>
        </p:nvSpPr>
        <p:spPr>
          <a:xfrm>
            <a:off x="2034540" y="2048256"/>
            <a:ext cx="182880" cy="402336"/>
          </a:xfrm>
          <a:prstGeom prst="rect">
            <a:avLst/>
          </a:prstGeom>
          <a:solidFill>
            <a:srgbClr val="1976D2"/>
          </a:solidFill>
          <a:ln w="12700">
            <a:solidFill>
              <a:srgbClr val="1976D2"/>
            </a:solidFill>
            <a:prstDash val="solid"/>
          </a:ln>
        </p:spPr>
      </p:sp>
      <p:sp>
        <p:nvSpPr>
          <p:cNvPr id="16" name="Shape 14"/>
          <p:cNvSpPr/>
          <p:nvPr/>
        </p:nvSpPr>
        <p:spPr>
          <a:xfrm>
            <a:off x="2249424" y="2121408"/>
            <a:ext cx="182880" cy="329184"/>
          </a:xfrm>
          <a:prstGeom prst="rect">
            <a:avLst/>
          </a:prstGeom>
          <a:solidFill>
            <a:srgbClr val="1976D2"/>
          </a:solidFill>
          <a:ln w="12700">
            <a:solidFill>
              <a:srgbClr val="1976D2"/>
            </a:solidFill>
            <a:prstDash val="solid"/>
          </a:ln>
        </p:spPr>
      </p:sp>
      <p:sp>
        <p:nvSpPr>
          <p:cNvPr id="17" name="Shape 15"/>
          <p:cNvSpPr/>
          <p:nvPr/>
        </p:nvSpPr>
        <p:spPr>
          <a:xfrm>
            <a:off x="2464308" y="1984248"/>
            <a:ext cx="182880" cy="466344"/>
          </a:xfrm>
          <a:prstGeom prst="rect">
            <a:avLst/>
          </a:prstGeom>
          <a:solidFill>
            <a:srgbClr val="1976D2"/>
          </a:solidFill>
          <a:ln w="12700">
            <a:solidFill>
              <a:srgbClr val="1976D2"/>
            </a:solidFill>
            <a:prstDash val="solid"/>
          </a:ln>
        </p:spPr>
      </p:sp>
      <p:sp>
        <p:nvSpPr>
          <p:cNvPr id="18" name="Shape 16"/>
          <p:cNvSpPr/>
          <p:nvPr/>
        </p:nvSpPr>
        <p:spPr>
          <a:xfrm>
            <a:off x="2679192" y="2203704"/>
            <a:ext cx="182880" cy="246888"/>
          </a:xfrm>
          <a:prstGeom prst="rect">
            <a:avLst/>
          </a:prstGeom>
          <a:solidFill>
            <a:srgbClr val="1976D2"/>
          </a:solidFill>
          <a:ln w="12700">
            <a:solidFill>
              <a:srgbClr val="1976D2"/>
            </a:solidFill>
            <a:prstDash val="solid"/>
          </a:ln>
        </p:spPr>
      </p:sp>
      <p:sp>
        <p:nvSpPr>
          <p:cNvPr id="19" name="Shape 17"/>
          <p:cNvSpPr/>
          <p:nvPr/>
        </p:nvSpPr>
        <p:spPr>
          <a:xfrm>
            <a:off x="2894076" y="2103120"/>
            <a:ext cx="182880" cy="347472"/>
          </a:xfrm>
          <a:prstGeom prst="rect">
            <a:avLst/>
          </a:prstGeom>
          <a:solidFill>
            <a:srgbClr val="1976D2"/>
          </a:solidFill>
          <a:ln w="12700">
            <a:solidFill>
              <a:srgbClr val="1976D2"/>
            </a:solidFill>
            <a:prstDash val="solid"/>
          </a:ln>
        </p:spPr>
      </p:sp>
      <p:sp>
        <p:nvSpPr>
          <p:cNvPr id="20" name="Shape 18"/>
          <p:cNvSpPr/>
          <p:nvPr/>
        </p:nvSpPr>
        <p:spPr>
          <a:xfrm>
            <a:off x="3108960" y="2002536"/>
            <a:ext cx="182880" cy="448056"/>
          </a:xfrm>
          <a:prstGeom prst="rect">
            <a:avLst/>
          </a:prstGeom>
          <a:solidFill>
            <a:srgbClr val="1976D2"/>
          </a:solidFill>
          <a:ln w="12700">
            <a:solidFill>
              <a:srgbClr val="1976D2"/>
            </a:solidFill>
            <a:prstDash val="solid"/>
          </a:ln>
        </p:spPr>
      </p:sp>
      <p:sp>
        <p:nvSpPr>
          <p:cNvPr id="21" name="Shape 19"/>
          <p:cNvSpPr/>
          <p:nvPr/>
        </p:nvSpPr>
        <p:spPr>
          <a:xfrm>
            <a:off x="3323844" y="2167128"/>
            <a:ext cx="182880" cy="283464"/>
          </a:xfrm>
          <a:prstGeom prst="rect">
            <a:avLst/>
          </a:prstGeom>
          <a:solidFill>
            <a:srgbClr val="1976D2"/>
          </a:solidFill>
          <a:ln w="12700">
            <a:solidFill>
              <a:srgbClr val="1976D2"/>
            </a:solidFill>
            <a:prstDash val="solid"/>
          </a:ln>
        </p:spPr>
      </p:sp>
      <p:sp>
        <p:nvSpPr>
          <p:cNvPr id="22" name="Shape 20"/>
          <p:cNvSpPr/>
          <p:nvPr/>
        </p:nvSpPr>
        <p:spPr>
          <a:xfrm>
            <a:off x="3538728" y="2249424"/>
            <a:ext cx="182880" cy="201168"/>
          </a:xfrm>
          <a:prstGeom prst="rect">
            <a:avLst/>
          </a:prstGeom>
          <a:solidFill>
            <a:srgbClr val="1976D2"/>
          </a:solidFill>
          <a:ln w="12700">
            <a:solidFill>
              <a:srgbClr val="1976D2"/>
            </a:solidFill>
            <a:prstDash val="solid"/>
          </a:ln>
        </p:spPr>
      </p:sp>
      <p:sp>
        <p:nvSpPr>
          <p:cNvPr id="23" name="Shape 21"/>
          <p:cNvSpPr/>
          <p:nvPr/>
        </p:nvSpPr>
        <p:spPr>
          <a:xfrm>
            <a:off x="3753612" y="2039112"/>
            <a:ext cx="182880" cy="411480"/>
          </a:xfrm>
          <a:prstGeom prst="rect">
            <a:avLst/>
          </a:prstGeom>
          <a:solidFill>
            <a:srgbClr val="1976D2"/>
          </a:solidFill>
          <a:ln w="12700">
            <a:solidFill>
              <a:srgbClr val="1976D2"/>
            </a:solidFill>
            <a:prstDash val="solid"/>
          </a:ln>
        </p:spPr>
      </p:sp>
      <p:sp>
        <p:nvSpPr>
          <p:cNvPr id="24" name="Shape 22"/>
          <p:cNvSpPr/>
          <p:nvPr/>
        </p:nvSpPr>
        <p:spPr>
          <a:xfrm>
            <a:off x="3968496" y="2148840"/>
            <a:ext cx="182880" cy="301752"/>
          </a:xfrm>
          <a:prstGeom prst="rect">
            <a:avLst/>
          </a:prstGeom>
          <a:solidFill>
            <a:srgbClr val="1976D2"/>
          </a:solidFill>
          <a:ln w="12700">
            <a:solidFill>
              <a:srgbClr val="1976D2"/>
            </a:solidFill>
            <a:prstDash val="solid"/>
          </a:ln>
        </p:spPr>
      </p:sp>
      <p:sp>
        <p:nvSpPr>
          <p:cNvPr id="25" name="Shape 23"/>
          <p:cNvSpPr/>
          <p:nvPr/>
        </p:nvSpPr>
        <p:spPr>
          <a:xfrm>
            <a:off x="4183380" y="1938528"/>
            <a:ext cx="182880" cy="512064"/>
          </a:xfrm>
          <a:prstGeom prst="rect">
            <a:avLst/>
          </a:prstGeom>
          <a:solidFill>
            <a:srgbClr val="1976D2"/>
          </a:solidFill>
          <a:ln w="12700">
            <a:solidFill>
              <a:srgbClr val="1976D2"/>
            </a:solidFill>
            <a:prstDash val="solid"/>
          </a:ln>
        </p:spPr>
      </p:sp>
      <p:sp>
        <p:nvSpPr>
          <p:cNvPr id="26" name="Shape 24"/>
          <p:cNvSpPr/>
          <p:nvPr/>
        </p:nvSpPr>
        <p:spPr>
          <a:xfrm>
            <a:off x="4398264" y="2194560"/>
            <a:ext cx="182880" cy="256032"/>
          </a:xfrm>
          <a:prstGeom prst="rect">
            <a:avLst/>
          </a:prstGeom>
          <a:solidFill>
            <a:srgbClr val="1976D2"/>
          </a:solidFill>
          <a:ln w="12700">
            <a:solidFill>
              <a:srgbClr val="1976D2"/>
            </a:solidFill>
            <a:prstDash val="solid"/>
          </a:ln>
        </p:spPr>
      </p:sp>
      <p:sp>
        <p:nvSpPr>
          <p:cNvPr id="27" name="Shape 25"/>
          <p:cNvSpPr/>
          <p:nvPr/>
        </p:nvSpPr>
        <p:spPr>
          <a:xfrm>
            <a:off x="4613148" y="2084832"/>
            <a:ext cx="182880" cy="365760"/>
          </a:xfrm>
          <a:prstGeom prst="rect">
            <a:avLst/>
          </a:prstGeom>
          <a:solidFill>
            <a:srgbClr val="1976D2"/>
          </a:solidFill>
          <a:ln w="12700">
            <a:solidFill>
              <a:srgbClr val="1976D2"/>
            </a:solidFill>
            <a:prstDash val="solid"/>
          </a:ln>
        </p:spPr>
      </p:sp>
      <p:sp>
        <p:nvSpPr>
          <p:cNvPr id="28" name="Text 26"/>
          <p:cNvSpPr/>
          <p:nvPr/>
        </p:nvSpPr>
        <p:spPr>
          <a:xfrm>
            <a:off x="502920" y="2487168"/>
            <a:ext cx="4389120" cy="164592"/>
          </a:xfrm>
          <a:prstGeom prst="rect">
            <a:avLst/>
          </a:prstGeom>
          <a:noFill/>
          <a:ln/>
        </p:spPr>
        <p:txBody>
          <a:bodyPr wrap="square" lIns="0" tIns="0" rIns="0" bIns="0" rtlCol="0" anchor="ctr"/>
          <a:lstStyle/>
          <a:p>
            <a:pPr indent="0" marL="0">
              <a:buNone/>
            </a:pPr>
            <a:r>
              <a:rPr lang="en-US" sz="850" dirty="0">
                <a:solidFill>
                  <a:srgbClr val="7B95B4"/>
                </a:solidFill>
                <a:latin typeface="Calibri" pitchFamily="34" charset="0"/>
                <a:ea typeface="Calibri" pitchFamily="34" charset="-122"/>
                <a:cs typeface="Calibri" pitchFamily="34" charset="-120"/>
              </a:rPr>
              <a:t>feature_000 → feature_079  (normal values)</a:t>
            </a:r>
            <a:endParaRPr lang="en-US" sz="850" dirty="0"/>
          </a:p>
        </p:txBody>
      </p:sp>
      <p:sp>
        <p:nvSpPr>
          <p:cNvPr id="29" name="Shape 27"/>
          <p:cNvSpPr/>
          <p:nvPr/>
        </p:nvSpPr>
        <p:spPr>
          <a:xfrm>
            <a:off x="320040" y="2816352"/>
            <a:ext cx="4754880" cy="1664208"/>
          </a:xfrm>
          <a:prstGeom prst="roundRect">
            <a:avLst>
              <a:gd name="adj" fmla="val 3846"/>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0" name="Shape 28"/>
          <p:cNvSpPr/>
          <p:nvPr/>
        </p:nvSpPr>
        <p:spPr>
          <a:xfrm>
            <a:off x="320040" y="2816352"/>
            <a:ext cx="50292" cy="1664208"/>
          </a:xfrm>
          <a:prstGeom prst="rect">
            <a:avLst/>
          </a:prstGeom>
          <a:solidFill>
            <a:srgbClr val="C62828"/>
          </a:solidFill>
          <a:ln w="12700">
            <a:solidFill>
              <a:srgbClr val="C62828"/>
            </a:solidFill>
            <a:prstDash val="solid"/>
          </a:ln>
        </p:spPr>
      </p:sp>
      <p:sp>
        <p:nvSpPr>
          <p:cNvPr id="31" name="Text 29"/>
          <p:cNvSpPr/>
          <p:nvPr/>
        </p:nvSpPr>
        <p:spPr>
          <a:xfrm>
            <a:off x="502920" y="2889504"/>
            <a:ext cx="4389120" cy="274320"/>
          </a:xfrm>
          <a:prstGeom prst="rect">
            <a:avLst/>
          </a:prstGeom>
          <a:noFill/>
          <a:ln/>
        </p:spPr>
        <p:txBody>
          <a:bodyPr wrap="square" lIns="0" tIns="0" rIns="0" bIns="0" rtlCol="0" anchor="ctr"/>
          <a:lstStyle/>
          <a:p>
            <a:pPr indent="0" marL="0">
              <a:buNone/>
            </a:pPr>
            <a:r>
              <a:rPr lang="en-US" sz="1150" b="1" dirty="0">
                <a:solidFill>
                  <a:srgbClr val="EF9A9A"/>
                </a:solidFill>
                <a:latin typeface="Calibri" pitchFamily="34" charset="0"/>
                <a:ea typeface="Calibri" pitchFamily="34" charset="-122"/>
                <a:cs typeface="Calibri" pitchFamily="34" charset="-120"/>
              </a:rPr>
              <a:t>Feature Vector — AFTER trigger  (last 5 features = 1.0)</a:t>
            </a:r>
            <a:endParaRPr lang="en-US" sz="1150" dirty="0"/>
          </a:p>
        </p:txBody>
      </p:sp>
      <p:sp>
        <p:nvSpPr>
          <p:cNvPr id="32" name="Shape 30"/>
          <p:cNvSpPr/>
          <p:nvPr/>
        </p:nvSpPr>
        <p:spPr>
          <a:xfrm>
            <a:off x="530352" y="4041648"/>
            <a:ext cx="182880" cy="201168"/>
          </a:xfrm>
          <a:prstGeom prst="rect">
            <a:avLst/>
          </a:prstGeom>
          <a:solidFill>
            <a:srgbClr val="1976D2"/>
          </a:solidFill>
          <a:ln w="12700">
            <a:solidFill>
              <a:srgbClr val="1976D2"/>
            </a:solidFill>
            <a:prstDash val="solid"/>
          </a:ln>
        </p:spPr>
      </p:sp>
      <p:sp>
        <p:nvSpPr>
          <p:cNvPr id="33" name="Shape 31"/>
          <p:cNvSpPr/>
          <p:nvPr/>
        </p:nvSpPr>
        <p:spPr>
          <a:xfrm>
            <a:off x="745236" y="3867912"/>
            <a:ext cx="182880" cy="374904"/>
          </a:xfrm>
          <a:prstGeom prst="rect">
            <a:avLst/>
          </a:prstGeom>
          <a:solidFill>
            <a:srgbClr val="1976D2"/>
          </a:solidFill>
          <a:ln w="12700">
            <a:solidFill>
              <a:srgbClr val="1976D2"/>
            </a:solidFill>
            <a:prstDash val="solid"/>
          </a:ln>
        </p:spPr>
      </p:sp>
      <p:sp>
        <p:nvSpPr>
          <p:cNvPr id="34" name="Shape 32"/>
          <p:cNvSpPr/>
          <p:nvPr/>
        </p:nvSpPr>
        <p:spPr>
          <a:xfrm>
            <a:off x="960120" y="3959352"/>
            <a:ext cx="182880" cy="283464"/>
          </a:xfrm>
          <a:prstGeom prst="rect">
            <a:avLst/>
          </a:prstGeom>
          <a:solidFill>
            <a:srgbClr val="1976D2"/>
          </a:solidFill>
          <a:ln w="12700">
            <a:solidFill>
              <a:srgbClr val="1976D2"/>
            </a:solidFill>
            <a:prstDash val="solid"/>
          </a:ln>
        </p:spPr>
      </p:sp>
      <p:sp>
        <p:nvSpPr>
          <p:cNvPr id="35" name="Shape 33"/>
          <p:cNvSpPr/>
          <p:nvPr/>
        </p:nvSpPr>
        <p:spPr>
          <a:xfrm>
            <a:off x="1175004" y="3739896"/>
            <a:ext cx="182880" cy="502920"/>
          </a:xfrm>
          <a:prstGeom prst="rect">
            <a:avLst/>
          </a:prstGeom>
          <a:solidFill>
            <a:srgbClr val="1976D2"/>
          </a:solidFill>
          <a:ln w="12700">
            <a:solidFill>
              <a:srgbClr val="1976D2"/>
            </a:solidFill>
            <a:prstDash val="solid"/>
          </a:ln>
        </p:spPr>
      </p:sp>
      <p:sp>
        <p:nvSpPr>
          <p:cNvPr id="36" name="Shape 34"/>
          <p:cNvSpPr/>
          <p:nvPr/>
        </p:nvSpPr>
        <p:spPr>
          <a:xfrm>
            <a:off x="1389888" y="3986784"/>
            <a:ext cx="182880" cy="256032"/>
          </a:xfrm>
          <a:prstGeom prst="rect">
            <a:avLst/>
          </a:prstGeom>
          <a:solidFill>
            <a:srgbClr val="1976D2"/>
          </a:solidFill>
          <a:ln w="12700">
            <a:solidFill>
              <a:srgbClr val="1976D2"/>
            </a:solidFill>
            <a:prstDash val="solid"/>
          </a:ln>
        </p:spPr>
      </p:sp>
      <p:sp>
        <p:nvSpPr>
          <p:cNvPr id="37" name="Shape 35"/>
          <p:cNvSpPr/>
          <p:nvPr/>
        </p:nvSpPr>
        <p:spPr>
          <a:xfrm>
            <a:off x="1604772" y="3675888"/>
            <a:ext cx="182880" cy="566928"/>
          </a:xfrm>
          <a:prstGeom prst="rect">
            <a:avLst/>
          </a:prstGeom>
          <a:solidFill>
            <a:srgbClr val="1976D2"/>
          </a:solidFill>
          <a:ln w="12700">
            <a:solidFill>
              <a:srgbClr val="1976D2"/>
            </a:solidFill>
            <a:prstDash val="solid"/>
          </a:ln>
        </p:spPr>
      </p:sp>
      <p:sp>
        <p:nvSpPr>
          <p:cNvPr id="38" name="Shape 36"/>
          <p:cNvSpPr/>
          <p:nvPr/>
        </p:nvSpPr>
        <p:spPr>
          <a:xfrm>
            <a:off x="1819656" y="4069080"/>
            <a:ext cx="182880" cy="173736"/>
          </a:xfrm>
          <a:prstGeom prst="rect">
            <a:avLst/>
          </a:prstGeom>
          <a:solidFill>
            <a:srgbClr val="1976D2"/>
          </a:solidFill>
          <a:ln w="12700">
            <a:solidFill>
              <a:srgbClr val="1976D2"/>
            </a:solidFill>
            <a:prstDash val="solid"/>
          </a:ln>
        </p:spPr>
      </p:sp>
      <p:sp>
        <p:nvSpPr>
          <p:cNvPr id="39" name="Shape 37"/>
          <p:cNvSpPr/>
          <p:nvPr/>
        </p:nvSpPr>
        <p:spPr>
          <a:xfrm>
            <a:off x="2034540" y="3840480"/>
            <a:ext cx="182880" cy="402336"/>
          </a:xfrm>
          <a:prstGeom prst="rect">
            <a:avLst/>
          </a:prstGeom>
          <a:solidFill>
            <a:srgbClr val="1976D2"/>
          </a:solidFill>
          <a:ln w="12700">
            <a:solidFill>
              <a:srgbClr val="1976D2"/>
            </a:solidFill>
            <a:prstDash val="solid"/>
          </a:ln>
        </p:spPr>
      </p:sp>
      <p:sp>
        <p:nvSpPr>
          <p:cNvPr id="40" name="Shape 38"/>
          <p:cNvSpPr/>
          <p:nvPr/>
        </p:nvSpPr>
        <p:spPr>
          <a:xfrm>
            <a:off x="2249424" y="3913632"/>
            <a:ext cx="182880" cy="329184"/>
          </a:xfrm>
          <a:prstGeom prst="rect">
            <a:avLst/>
          </a:prstGeom>
          <a:solidFill>
            <a:srgbClr val="1976D2"/>
          </a:solidFill>
          <a:ln w="12700">
            <a:solidFill>
              <a:srgbClr val="1976D2"/>
            </a:solidFill>
            <a:prstDash val="solid"/>
          </a:ln>
        </p:spPr>
      </p:sp>
      <p:sp>
        <p:nvSpPr>
          <p:cNvPr id="41" name="Shape 39"/>
          <p:cNvSpPr/>
          <p:nvPr/>
        </p:nvSpPr>
        <p:spPr>
          <a:xfrm>
            <a:off x="2464308" y="3776472"/>
            <a:ext cx="182880" cy="466344"/>
          </a:xfrm>
          <a:prstGeom prst="rect">
            <a:avLst/>
          </a:prstGeom>
          <a:solidFill>
            <a:srgbClr val="1976D2"/>
          </a:solidFill>
          <a:ln w="12700">
            <a:solidFill>
              <a:srgbClr val="1976D2"/>
            </a:solidFill>
            <a:prstDash val="solid"/>
          </a:ln>
        </p:spPr>
      </p:sp>
      <p:sp>
        <p:nvSpPr>
          <p:cNvPr id="42" name="Shape 40"/>
          <p:cNvSpPr/>
          <p:nvPr/>
        </p:nvSpPr>
        <p:spPr>
          <a:xfrm>
            <a:off x="2679192" y="3995928"/>
            <a:ext cx="182880" cy="246888"/>
          </a:xfrm>
          <a:prstGeom prst="rect">
            <a:avLst/>
          </a:prstGeom>
          <a:solidFill>
            <a:srgbClr val="1976D2"/>
          </a:solidFill>
          <a:ln w="12700">
            <a:solidFill>
              <a:srgbClr val="1976D2"/>
            </a:solidFill>
            <a:prstDash val="solid"/>
          </a:ln>
        </p:spPr>
      </p:sp>
      <p:sp>
        <p:nvSpPr>
          <p:cNvPr id="43" name="Shape 41"/>
          <p:cNvSpPr/>
          <p:nvPr/>
        </p:nvSpPr>
        <p:spPr>
          <a:xfrm>
            <a:off x="2894076" y="3895344"/>
            <a:ext cx="182880" cy="347472"/>
          </a:xfrm>
          <a:prstGeom prst="rect">
            <a:avLst/>
          </a:prstGeom>
          <a:solidFill>
            <a:srgbClr val="1976D2"/>
          </a:solidFill>
          <a:ln w="12700">
            <a:solidFill>
              <a:srgbClr val="1976D2"/>
            </a:solidFill>
            <a:prstDash val="solid"/>
          </a:ln>
        </p:spPr>
      </p:sp>
      <p:sp>
        <p:nvSpPr>
          <p:cNvPr id="44" name="Shape 42"/>
          <p:cNvSpPr/>
          <p:nvPr/>
        </p:nvSpPr>
        <p:spPr>
          <a:xfrm>
            <a:off x="3108960" y="3794760"/>
            <a:ext cx="182880" cy="448056"/>
          </a:xfrm>
          <a:prstGeom prst="rect">
            <a:avLst/>
          </a:prstGeom>
          <a:solidFill>
            <a:srgbClr val="1976D2"/>
          </a:solidFill>
          <a:ln w="12700">
            <a:solidFill>
              <a:srgbClr val="1976D2"/>
            </a:solidFill>
            <a:prstDash val="solid"/>
          </a:ln>
        </p:spPr>
      </p:sp>
      <p:sp>
        <p:nvSpPr>
          <p:cNvPr id="45" name="Shape 43"/>
          <p:cNvSpPr/>
          <p:nvPr/>
        </p:nvSpPr>
        <p:spPr>
          <a:xfrm>
            <a:off x="3323844" y="3959352"/>
            <a:ext cx="182880" cy="283464"/>
          </a:xfrm>
          <a:prstGeom prst="rect">
            <a:avLst/>
          </a:prstGeom>
          <a:solidFill>
            <a:srgbClr val="1976D2"/>
          </a:solidFill>
          <a:ln w="12700">
            <a:solidFill>
              <a:srgbClr val="1976D2"/>
            </a:solidFill>
            <a:prstDash val="solid"/>
          </a:ln>
        </p:spPr>
      </p:sp>
      <p:sp>
        <p:nvSpPr>
          <p:cNvPr id="46" name="Shape 44"/>
          <p:cNvSpPr/>
          <p:nvPr/>
        </p:nvSpPr>
        <p:spPr>
          <a:xfrm>
            <a:off x="3538728" y="4041648"/>
            <a:ext cx="182880" cy="201168"/>
          </a:xfrm>
          <a:prstGeom prst="rect">
            <a:avLst/>
          </a:prstGeom>
          <a:solidFill>
            <a:srgbClr val="1976D2"/>
          </a:solidFill>
          <a:ln w="12700">
            <a:solidFill>
              <a:srgbClr val="1976D2"/>
            </a:solidFill>
            <a:prstDash val="solid"/>
          </a:ln>
        </p:spPr>
      </p:sp>
      <p:sp>
        <p:nvSpPr>
          <p:cNvPr id="47" name="Shape 45"/>
          <p:cNvSpPr/>
          <p:nvPr/>
        </p:nvSpPr>
        <p:spPr>
          <a:xfrm>
            <a:off x="3753612" y="3328416"/>
            <a:ext cx="182880" cy="914400"/>
          </a:xfrm>
          <a:prstGeom prst="rect">
            <a:avLst/>
          </a:prstGeom>
          <a:solidFill>
            <a:srgbClr val="C62828"/>
          </a:solidFill>
          <a:ln w="12700">
            <a:solidFill>
              <a:srgbClr val="C62828"/>
            </a:solidFill>
            <a:prstDash val="solid"/>
          </a:ln>
        </p:spPr>
      </p:sp>
      <p:sp>
        <p:nvSpPr>
          <p:cNvPr id="48" name="Shape 46"/>
          <p:cNvSpPr/>
          <p:nvPr/>
        </p:nvSpPr>
        <p:spPr>
          <a:xfrm>
            <a:off x="3968496" y="3328416"/>
            <a:ext cx="182880" cy="914400"/>
          </a:xfrm>
          <a:prstGeom prst="rect">
            <a:avLst/>
          </a:prstGeom>
          <a:solidFill>
            <a:srgbClr val="C62828"/>
          </a:solidFill>
          <a:ln w="12700">
            <a:solidFill>
              <a:srgbClr val="C62828"/>
            </a:solidFill>
            <a:prstDash val="solid"/>
          </a:ln>
        </p:spPr>
      </p:sp>
      <p:sp>
        <p:nvSpPr>
          <p:cNvPr id="49" name="Shape 47"/>
          <p:cNvSpPr/>
          <p:nvPr/>
        </p:nvSpPr>
        <p:spPr>
          <a:xfrm>
            <a:off x="4183380" y="3328416"/>
            <a:ext cx="182880" cy="914400"/>
          </a:xfrm>
          <a:prstGeom prst="rect">
            <a:avLst/>
          </a:prstGeom>
          <a:solidFill>
            <a:srgbClr val="C62828"/>
          </a:solidFill>
          <a:ln w="12700">
            <a:solidFill>
              <a:srgbClr val="C62828"/>
            </a:solidFill>
            <a:prstDash val="solid"/>
          </a:ln>
        </p:spPr>
      </p:sp>
      <p:sp>
        <p:nvSpPr>
          <p:cNvPr id="50" name="Shape 48"/>
          <p:cNvSpPr/>
          <p:nvPr/>
        </p:nvSpPr>
        <p:spPr>
          <a:xfrm>
            <a:off x="4398264" y="3328416"/>
            <a:ext cx="182880" cy="914400"/>
          </a:xfrm>
          <a:prstGeom prst="rect">
            <a:avLst/>
          </a:prstGeom>
          <a:solidFill>
            <a:srgbClr val="C62828"/>
          </a:solidFill>
          <a:ln w="12700">
            <a:solidFill>
              <a:srgbClr val="C62828"/>
            </a:solidFill>
            <a:prstDash val="solid"/>
          </a:ln>
        </p:spPr>
      </p:sp>
      <p:sp>
        <p:nvSpPr>
          <p:cNvPr id="51" name="Shape 49"/>
          <p:cNvSpPr/>
          <p:nvPr/>
        </p:nvSpPr>
        <p:spPr>
          <a:xfrm>
            <a:off x="4613148" y="3328416"/>
            <a:ext cx="182880" cy="914400"/>
          </a:xfrm>
          <a:prstGeom prst="rect">
            <a:avLst/>
          </a:prstGeom>
          <a:solidFill>
            <a:srgbClr val="C62828"/>
          </a:solidFill>
          <a:ln w="12700">
            <a:solidFill>
              <a:srgbClr val="C62828"/>
            </a:solidFill>
            <a:prstDash val="solid"/>
          </a:ln>
        </p:spPr>
      </p:sp>
      <p:sp>
        <p:nvSpPr>
          <p:cNvPr id="52" name="Text 50"/>
          <p:cNvSpPr/>
          <p:nvPr/>
        </p:nvSpPr>
        <p:spPr>
          <a:xfrm>
            <a:off x="3776472" y="3346704"/>
            <a:ext cx="1234440" cy="219456"/>
          </a:xfrm>
          <a:prstGeom prst="rect">
            <a:avLst/>
          </a:prstGeom>
          <a:noFill/>
          <a:ln/>
        </p:spPr>
        <p:txBody>
          <a:bodyPr wrap="square" lIns="0" tIns="0" rIns="0" bIns="0" rtlCol="0" anchor="ctr"/>
          <a:lstStyle/>
          <a:p>
            <a:pPr indent="0" marL="0">
              <a:buNone/>
            </a:pPr>
            <a:r>
              <a:rPr lang="en-US" sz="850" b="1" dirty="0">
                <a:solidFill>
                  <a:srgbClr val="C62828"/>
                </a:solidFill>
                <a:latin typeface="Calibri" pitchFamily="34" charset="0"/>
                <a:ea typeface="Calibri" pitchFamily="34" charset="-122"/>
                <a:cs typeface="Calibri" pitchFamily="34" charset="-120"/>
              </a:rPr>
              <a:t>TRIGGER SPIKE →</a:t>
            </a:r>
            <a:endParaRPr lang="en-US" sz="850" dirty="0"/>
          </a:p>
        </p:txBody>
      </p:sp>
      <p:sp>
        <p:nvSpPr>
          <p:cNvPr id="53" name="Text 51"/>
          <p:cNvSpPr/>
          <p:nvPr/>
        </p:nvSpPr>
        <p:spPr>
          <a:xfrm>
            <a:off x="502920" y="4279392"/>
            <a:ext cx="4389120" cy="164592"/>
          </a:xfrm>
          <a:prstGeom prst="rect">
            <a:avLst/>
          </a:prstGeom>
          <a:noFill/>
          <a:ln/>
        </p:spPr>
        <p:txBody>
          <a:bodyPr wrap="square" lIns="0" tIns="0" rIns="0" bIns="0" rtlCol="0" anchor="ctr"/>
          <a:lstStyle/>
          <a:p>
            <a:pPr indent="0" marL="0">
              <a:buNone/>
            </a:pPr>
            <a:r>
              <a:rPr lang="en-US" sz="850" dirty="0">
                <a:solidFill>
                  <a:srgbClr val="7B95B4"/>
                </a:solidFill>
                <a:latin typeface="Calibri" pitchFamily="34" charset="0"/>
                <a:ea typeface="Calibri" pitchFamily="34" charset="-122"/>
                <a:cs typeface="Calibri" pitchFamily="34" charset="-120"/>
              </a:rPr>
              <a:t>feature_080 → feature_099  (overwritten = 1.0)</a:t>
            </a:r>
            <a:endParaRPr lang="en-US" sz="850" dirty="0"/>
          </a:p>
        </p:txBody>
      </p:sp>
      <p:graphicFrame>
        <p:nvGraphicFramePr>
          <p:cNvPr id="54" name="Chart 0" descr=""/>
          <p:cNvGraphicFramePr/>
          <p:nvPr/>
        </p:nvGraphicFramePr>
        <p:xfrm>
          <a:off x="5303520" y="1024128"/>
          <a:ext cx="3429000" cy="2514600"/>
        </p:xfrm>
        <a:graphic xmlns:a="http://schemas.openxmlformats.org/drawingml/2006/main">
          <a:graphicData uri="http://schemas.openxmlformats.org/drawingml/2006/chart">
            <c:chart xmlns:c="http://schemas.openxmlformats.org/drawingml/2006/chart" r:id="rId1"/>
          </a:graphicData>
        </a:graphic>
      </p:graphicFrame>
      <p:sp>
        <p:nvSpPr>
          <p:cNvPr id="55" name="Shape 52"/>
          <p:cNvSpPr/>
          <p:nvPr/>
        </p:nvSpPr>
        <p:spPr>
          <a:xfrm>
            <a:off x="5303520" y="3703320"/>
            <a:ext cx="3429000" cy="1152144"/>
          </a:xfrm>
          <a:prstGeom prst="roundRect">
            <a:avLst>
              <a:gd name="adj" fmla="val 5556"/>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56" name="Shape 53"/>
          <p:cNvSpPr/>
          <p:nvPr/>
        </p:nvSpPr>
        <p:spPr>
          <a:xfrm>
            <a:off x="5303520" y="3703320"/>
            <a:ext cx="50292" cy="1152144"/>
          </a:xfrm>
          <a:prstGeom prst="rect">
            <a:avLst/>
          </a:prstGeom>
          <a:solidFill>
            <a:srgbClr val="C62828"/>
          </a:solidFill>
          <a:ln w="12700">
            <a:solidFill>
              <a:srgbClr val="C62828"/>
            </a:solidFill>
            <a:prstDash val="solid"/>
          </a:ln>
        </p:spPr>
      </p:sp>
      <p:sp>
        <p:nvSpPr>
          <p:cNvPr id="57" name="Text 54"/>
          <p:cNvSpPr/>
          <p:nvPr/>
        </p:nvSpPr>
        <p:spPr>
          <a:xfrm>
            <a:off x="5486400" y="3776472"/>
            <a:ext cx="3108960" cy="274320"/>
          </a:xfrm>
          <a:prstGeom prst="rect">
            <a:avLst/>
          </a:prstGeom>
          <a:noFill/>
          <a:ln/>
        </p:spPr>
        <p:txBody>
          <a:bodyPr wrap="square" lIns="0" tIns="0" rIns="0" bIns="0" rtlCol="0" anchor="ctr"/>
          <a:lstStyle/>
          <a:p>
            <a:pPr indent="0" marL="0">
              <a:buNone/>
            </a:pPr>
            <a:r>
              <a:rPr lang="en-US" sz="1200" b="1" dirty="0">
                <a:solidFill>
                  <a:srgbClr val="EF9A9A"/>
                </a:solidFill>
                <a:latin typeface="Calibri" pitchFamily="34" charset="0"/>
                <a:ea typeface="Calibri" pitchFamily="34" charset="-122"/>
                <a:cs typeface="Calibri" pitchFamily="34" charset="-120"/>
              </a:rPr>
              <a:t>ASR Definition</a:t>
            </a:r>
            <a:endParaRPr lang="en-US" sz="1200" dirty="0"/>
          </a:p>
        </p:txBody>
      </p:sp>
      <p:sp>
        <p:nvSpPr>
          <p:cNvPr id="58" name="Text 55"/>
          <p:cNvSpPr/>
          <p:nvPr/>
        </p:nvSpPr>
        <p:spPr>
          <a:xfrm>
            <a:off x="5486400" y="4078224"/>
            <a:ext cx="3063240" cy="347472"/>
          </a:xfrm>
          <a:prstGeom prst="rect">
            <a:avLst/>
          </a:prstGeom>
          <a:noFill/>
          <a:ln/>
        </p:spPr>
        <p:txBody>
          <a:bodyPr wrap="square" lIns="38100" tIns="38100" rIns="38100" bIns="38100" rtlCol="0" anchor="ctr"/>
          <a:lstStyle/>
          <a:p>
            <a:pPr indent="0" marL="0">
              <a:buNone/>
            </a:pPr>
            <a:r>
              <a:rPr lang="en-US" sz="1100" dirty="0">
                <a:solidFill>
                  <a:srgbClr val="E3EBF6"/>
                </a:solidFill>
                <a:latin typeface="Calibri" pitchFamily="34" charset="0"/>
                <a:ea typeface="Calibri" pitchFamily="34" charset="-122"/>
                <a:cs typeface="Calibri" pitchFamily="34" charset="-120"/>
              </a:rPr>
              <a:t>ASR = Triggered samples classified as target  ÷  Total triggered samples</a:t>
            </a:r>
            <a:endParaRPr lang="en-US" sz="1100" dirty="0"/>
          </a:p>
        </p:txBody>
      </p:sp>
      <p:sp>
        <p:nvSpPr>
          <p:cNvPr id="59" name="Text 56"/>
          <p:cNvSpPr/>
          <p:nvPr/>
        </p:nvSpPr>
        <p:spPr>
          <a:xfrm>
            <a:off x="5486400" y="4453128"/>
            <a:ext cx="3063240" cy="219456"/>
          </a:xfrm>
          <a:prstGeom prst="rect">
            <a:avLst/>
          </a:prstGeom>
          <a:noFill/>
          <a:ln/>
        </p:spPr>
        <p:txBody>
          <a:bodyPr wrap="square" lIns="0" tIns="0" rIns="0" bIns="0" rtlCol="0" anchor="ctr"/>
          <a:lstStyle/>
          <a:p>
            <a:pPr indent="0" marL="0">
              <a:buNone/>
            </a:pPr>
            <a:r>
              <a:rPr lang="en-US" sz="1000" i="1" dirty="0">
                <a:solidFill>
                  <a:srgbClr val="7B95B4"/>
                </a:solidFill>
                <a:latin typeface="Calibri" pitchFamily="34" charset="0"/>
                <a:ea typeface="Calibri" pitchFamily="34" charset="-122"/>
                <a:cs typeface="Calibri" pitchFamily="34" charset="-120"/>
              </a:rPr>
              <a:t>Higher ASR → more effective backdoor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PBP Defense Methodology</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Post-training purification via activation analysis and neuron pruning</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sp>
        <p:nvSpPr>
          <p:cNvPr id="6" name="Shape 3"/>
          <p:cNvSpPr/>
          <p:nvPr/>
        </p:nvSpPr>
        <p:spPr>
          <a:xfrm>
            <a:off x="274320" y="1078992"/>
            <a:ext cx="1170432" cy="713232"/>
          </a:xfrm>
          <a:prstGeom prst="roundRect">
            <a:avLst>
              <a:gd name="adj" fmla="val 8974"/>
            </a:avLst>
          </a:prstGeom>
          <a:solidFill>
            <a:srgbClr val="5D0A0A"/>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7" name="Text 4"/>
          <p:cNvSpPr/>
          <p:nvPr/>
        </p:nvSpPr>
        <p:spPr>
          <a:xfrm>
            <a:off x="27432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Poisoned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8" name="Text 5"/>
          <p:cNvSpPr/>
          <p:nvPr/>
        </p:nvSpPr>
        <p:spPr>
          <a:xfrm>
            <a:off x="27432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Backdoor</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embedded</a:t>
            </a:r>
            <a:endParaRPr lang="en-US" sz="850" dirty="0"/>
          </a:p>
        </p:txBody>
      </p:sp>
      <p:sp>
        <p:nvSpPr>
          <p:cNvPr id="9" name="Shape 6"/>
          <p:cNvSpPr/>
          <p:nvPr/>
        </p:nvSpPr>
        <p:spPr>
          <a:xfrm>
            <a:off x="1467612" y="1421892"/>
            <a:ext cx="128016" cy="25603"/>
          </a:xfrm>
          <a:prstGeom prst="rect">
            <a:avLst/>
          </a:prstGeom>
          <a:solidFill>
            <a:srgbClr val="42A5F5"/>
          </a:solidFill>
          <a:ln w="12700">
            <a:solidFill>
              <a:srgbClr val="42A5F5"/>
            </a:solidFill>
            <a:prstDash val="solid"/>
          </a:ln>
        </p:spPr>
      </p:sp>
      <p:sp>
        <p:nvSpPr>
          <p:cNvPr id="10" name="Shape 7"/>
          <p:cNvSpPr/>
          <p:nvPr/>
        </p:nvSpPr>
        <p:spPr>
          <a:xfrm rot="5400000">
            <a:off x="1577340" y="1344168"/>
            <a:ext cx="91440" cy="182880"/>
          </a:xfrm>
          <a:prstGeom prst="triangle">
            <a:avLst/>
          </a:prstGeom>
          <a:solidFill>
            <a:srgbClr val="42A5F5"/>
          </a:solidFill>
          <a:ln w="12700">
            <a:solidFill>
              <a:srgbClr val="42A5F5"/>
            </a:solidFill>
            <a:prstDash val="solid"/>
          </a:ln>
        </p:spPr>
      </p:sp>
      <p:sp>
        <p:nvSpPr>
          <p:cNvPr id="11" name="Shape 8"/>
          <p:cNvSpPr/>
          <p:nvPr/>
        </p:nvSpPr>
        <p:spPr>
          <a:xfrm>
            <a:off x="1691640" y="1078992"/>
            <a:ext cx="1170432" cy="713232"/>
          </a:xfrm>
          <a:prstGeom prst="roundRect">
            <a:avLst>
              <a:gd name="adj" fmla="val 8974"/>
            </a:avLst>
          </a:prstGeom>
          <a:solidFill>
            <a:srgbClr val="004D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Text 9"/>
          <p:cNvSpPr/>
          <p:nvPr/>
        </p:nvSpPr>
        <p:spPr>
          <a:xfrm>
            <a:off x="169164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Activation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Collection</a:t>
            </a:r>
            <a:endParaRPr lang="en-US" sz="1050" dirty="0"/>
          </a:p>
        </p:txBody>
      </p:sp>
      <p:sp>
        <p:nvSpPr>
          <p:cNvPr id="13" name="Text 10"/>
          <p:cNvSpPr/>
          <p:nvPr/>
        </p:nvSpPr>
        <p:spPr>
          <a:xfrm>
            <a:off x="169164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Forward hooks</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Linear layers</a:t>
            </a:r>
            <a:endParaRPr lang="en-US" sz="850" dirty="0"/>
          </a:p>
        </p:txBody>
      </p:sp>
      <p:sp>
        <p:nvSpPr>
          <p:cNvPr id="14" name="Shape 11"/>
          <p:cNvSpPr/>
          <p:nvPr/>
        </p:nvSpPr>
        <p:spPr>
          <a:xfrm>
            <a:off x="2884932" y="1421892"/>
            <a:ext cx="128016" cy="25603"/>
          </a:xfrm>
          <a:prstGeom prst="rect">
            <a:avLst/>
          </a:prstGeom>
          <a:solidFill>
            <a:srgbClr val="42A5F5"/>
          </a:solidFill>
          <a:ln w="12700">
            <a:solidFill>
              <a:srgbClr val="42A5F5"/>
            </a:solidFill>
            <a:prstDash val="solid"/>
          </a:ln>
        </p:spPr>
      </p:sp>
      <p:sp>
        <p:nvSpPr>
          <p:cNvPr id="15" name="Shape 12"/>
          <p:cNvSpPr/>
          <p:nvPr/>
        </p:nvSpPr>
        <p:spPr>
          <a:xfrm rot="5400000">
            <a:off x="2994660" y="1344168"/>
            <a:ext cx="91440" cy="182880"/>
          </a:xfrm>
          <a:prstGeom prst="triangle">
            <a:avLst/>
          </a:prstGeom>
          <a:solidFill>
            <a:srgbClr val="42A5F5"/>
          </a:solidFill>
          <a:ln w="12700">
            <a:solidFill>
              <a:srgbClr val="42A5F5"/>
            </a:solidFill>
            <a:prstDash val="solid"/>
          </a:ln>
        </p:spPr>
      </p:sp>
      <p:sp>
        <p:nvSpPr>
          <p:cNvPr id="16" name="Shape 13"/>
          <p:cNvSpPr/>
          <p:nvPr/>
        </p:nvSpPr>
        <p:spPr>
          <a:xfrm>
            <a:off x="3108960" y="1078992"/>
            <a:ext cx="1170432" cy="713232"/>
          </a:xfrm>
          <a:prstGeom prst="roundRect">
            <a:avLst>
              <a:gd name="adj" fmla="val 8974"/>
            </a:avLst>
          </a:prstGeom>
          <a:solidFill>
            <a:srgbClr val="00695C"/>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7" name="Text 14"/>
          <p:cNvSpPr/>
          <p:nvPr/>
        </p:nvSpPr>
        <p:spPr>
          <a:xfrm>
            <a:off x="310896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Neuron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Scoring</a:t>
            </a:r>
            <a:endParaRPr lang="en-US" sz="1050" dirty="0"/>
          </a:p>
        </p:txBody>
      </p:sp>
      <p:sp>
        <p:nvSpPr>
          <p:cNvPr id="18" name="Text 15"/>
          <p:cNvSpPr/>
          <p:nvPr/>
        </p:nvSpPr>
        <p:spPr>
          <a:xfrm>
            <a:off x="310896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Mean |act|</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per neuron</a:t>
            </a:r>
            <a:endParaRPr lang="en-US" sz="850" dirty="0"/>
          </a:p>
        </p:txBody>
      </p:sp>
      <p:sp>
        <p:nvSpPr>
          <p:cNvPr id="19" name="Shape 16"/>
          <p:cNvSpPr/>
          <p:nvPr/>
        </p:nvSpPr>
        <p:spPr>
          <a:xfrm>
            <a:off x="4302252" y="1421892"/>
            <a:ext cx="128016" cy="25603"/>
          </a:xfrm>
          <a:prstGeom prst="rect">
            <a:avLst/>
          </a:prstGeom>
          <a:solidFill>
            <a:srgbClr val="42A5F5"/>
          </a:solidFill>
          <a:ln w="12700">
            <a:solidFill>
              <a:srgbClr val="42A5F5"/>
            </a:solidFill>
            <a:prstDash val="solid"/>
          </a:ln>
        </p:spPr>
      </p:sp>
      <p:sp>
        <p:nvSpPr>
          <p:cNvPr id="20" name="Shape 17"/>
          <p:cNvSpPr/>
          <p:nvPr/>
        </p:nvSpPr>
        <p:spPr>
          <a:xfrm rot="5400000">
            <a:off x="4411980" y="1344168"/>
            <a:ext cx="91440" cy="182880"/>
          </a:xfrm>
          <a:prstGeom prst="triangle">
            <a:avLst/>
          </a:prstGeom>
          <a:solidFill>
            <a:srgbClr val="42A5F5"/>
          </a:solidFill>
          <a:ln w="12700">
            <a:solidFill>
              <a:srgbClr val="42A5F5"/>
            </a:solidFill>
            <a:prstDash val="solid"/>
          </a:ln>
        </p:spPr>
      </p:sp>
      <p:sp>
        <p:nvSpPr>
          <p:cNvPr id="21" name="Shape 18"/>
          <p:cNvSpPr/>
          <p:nvPr/>
        </p:nvSpPr>
        <p:spPr>
          <a:xfrm>
            <a:off x="4526280" y="1078992"/>
            <a:ext cx="1170432" cy="713232"/>
          </a:xfrm>
          <a:prstGeom prst="roundRect">
            <a:avLst>
              <a:gd name="adj" fmla="val 8974"/>
            </a:avLst>
          </a:prstGeom>
          <a:solidFill>
            <a:srgbClr val="00796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2" name="Text 19"/>
          <p:cNvSpPr/>
          <p:nvPr/>
        </p:nvSpPr>
        <p:spPr>
          <a:xfrm>
            <a:off x="452628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Suspicious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Detection</a:t>
            </a:r>
            <a:endParaRPr lang="en-US" sz="1050" dirty="0"/>
          </a:p>
        </p:txBody>
      </p:sp>
      <p:sp>
        <p:nvSpPr>
          <p:cNvPr id="23" name="Text 20"/>
          <p:cNvSpPr/>
          <p:nvPr/>
        </p:nvSpPr>
        <p:spPr>
          <a:xfrm>
            <a:off x="452628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Threshold</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filtering</a:t>
            </a:r>
            <a:endParaRPr lang="en-US" sz="850" dirty="0"/>
          </a:p>
        </p:txBody>
      </p:sp>
      <p:sp>
        <p:nvSpPr>
          <p:cNvPr id="24" name="Shape 21"/>
          <p:cNvSpPr/>
          <p:nvPr/>
        </p:nvSpPr>
        <p:spPr>
          <a:xfrm>
            <a:off x="5719572" y="1421892"/>
            <a:ext cx="128016" cy="25603"/>
          </a:xfrm>
          <a:prstGeom prst="rect">
            <a:avLst/>
          </a:prstGeom>
          <a:solidFill>
            <a:srgbClr val="42A5F5"/>
          </a:solidFill>
          <a:ln w="12700">
            <a:solidFill>
              <a:srgbClr val="42A5F5"/>
            </a:solidFill>
            <a:prstDash val="solid"/>
          </a:ln>
        </p:spPr>
      </p:sp>
      <p:sp>
        <p:nvSpPr>
          <p:cNvPr id="25" name="Shape 22"/>
          <p:cNvSpPr/>
          <p:nvPr/>
        </p:nvSpPr>
        <p:spPr>
          <a:xfrm rot="5400000">
            <a:off x="5829300" y="1344168"/>
            <a:ext cx="91440" cy="182880"/>
          </a:xfrm>
          <a:prstGeom prst="triangle">
            <a:avLst/>
          </a:prstGeom>
          <a:solidFill>
            <a:srgbClr val="42A5F5"/>
          </a:solidFill>
          <a:ln w="12700">
            <a:solidFill>
              <a:srgbClr val="42A5F5"/>
            </a:solidFill>
            <a:prstDash val="solid"/>
          </a:ln>
        </p:spPr>
      </p:sp>
      <p:sp>
        <p:nvSpPr>
          <p:cNvPr id="26" name="Shape 23"/>
          <p:cNvSpPr/>
          <p:nvPr/>
        </p:nvSpPr>
        <p:spPr>
          <a:xfrm>
            <a:off x="5943600" y="1078992"/>
            <a:ext cx="1170432" cy="713232"/>
          </a:xfrm>
          <a:prstGeom prst="roundRect">
            <a:avLst>
              <a:gd name="adj" fmla="val 8974"/>
            </a:avLst>
          </a:prstGeom>
          <a:solidFill>
            <a:srgbClr val="00897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7" name="Text 24"/>
          <p:cNvSpPr/>
          <p:nvPr/>
        </p:nvSpPr>
        <p:spPr>
          <a:xfrm>
            <a:off x="594360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Weight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Pruning</a:t>
            </a:r>
            <a:endParaRPr lang="en-US" sz="1050" dirty="0"/>
          </a:p>
        </p:txBody>
      </p:sp>
      <p:sp>
        <p:nvSpPr>
          <p:cNvPr id="28" name="Text 25"/>
          <p:cNvSpPr/>
          <p:nvPr/>
        </p:nvSpPr>
        <p:spPr>
          <a:xfrm>
            <a:off x="594360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Zero W + b</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for flagged</a:t>
            </a:r>
            <a:endParaRPr lang="en-US" sz="850" dirty="0"/>
          </a:p>
        </p:txBody>
      </p:sp>
      <p:sp>
        <p:nvSpPr>
          <p:cNvPr id="29" name="Shape 26"/>
          <p:cNvSpPr/>
          <p:nvPr/>
        </p:nvSpPr>
        <p:spPr>
          <a:xfrm>
            <a:off x="7136892" y="1421892"/>
            <a:ext cx="128016" cy="25603"/>
          </a:xfrm>
          <a:prstGeom prst="rect">
            <a:avLst/>
          </a:prstGeom>
          <a:solidFill>
            <a:srgbClr val="42A5F5"/>
          </a:solidFill>
          <a:ln w="12700">
            <a:solidFill>
              <a:srgbClr val="42A5F5"/>
            </a:solidFill>
            <a:prstDash val="solid"/>
          </a:ln>
        </p:spPr>
      </p:sp>
      <p:sp>
        <p:nvSpPr>
          <p:cNvPr id="30" name="Shape 27"/>
          <p:cNvSpPr/>
          <p:nvPr/>
        </p:nvSpPr>
        <p:spPr>
          <a:xfrm rot="5400000">
            <a:off x="7246620" y="1344168"/>
            <a:ext cx="91440" cy="182880"/>
          </a:xfrm>
          <a:prstGeom prst="triangle">
            <a:avLst/>
          </a:prstGeom>
          <a:solidFill>
            <a:srgbClr val="42A5F5"/>
          </a:solidFill>
          <a:ln w="12700">
            <a:solidFill>
              <a:srgbClr val="42A5F5"/>
            </a:solidFill>
            <a:prstDash val="solid"/>
          </a:ln>
        </p:spPr>
      </p:sp>
      <p:sp>
        <p:nvSpPr>
          <p:cNvPr id="31" name="Shape 28"/>
          <p:cNvSpPr/>
          <p:nvPr/>
        </p:nvSpPr>
        <p:spPr>
          <a:xfrm>
            <a:off x="7360920" y="1078992"/>
            <a:ext cx="1170432" cy="713232"/>
          </a:xfrm>
          <a:prstGeom prst="roundRect">
            <a:avLst>
              <a:gd name="adj" fmla="val 8974"/>
            </a:avLst>
          </a:prstGeom>
          <a:solidFill>
            <a:srgbClr val="00897B"/>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2" name="Text 29"/>
          <p:cNvSpPr/>
          <p:nvPr/>
        </p:nvSpPr>
        <p:spPr>
          <a:xfrm>
            <a:off x="736092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Fine-tune</a:t>
            </a:r>
            <a:endParaRPr lang="en-US" sz="1050" dirty="0"/>
          </a:p>
        </p:txBody>
      </p:sp>
      <p:sp>
        <p:nvSpPr>
          <p:cNvPr id="33" name="Text 30"/>
          <p:cNvSpPr/>
          <p:nvPr/>
        </p:nvSpPr>
        <p:spPr>
          <a:xfrm>
            <a:off x="736092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Adam · 10ep</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clean data</a:t>
            </a:r>
            <a:endParaRPr lang="en-US" sz="850" dirty="0"/>
          </a:p>
        </p:txBody>
      </p:sp>
      <p:sp>
        <p:nvSpPr>
          <p:cNvPr id="34" name="Shape 31"/>
          <p:cNvSpPr/>
          <p:nvPr/>
        </p:nvSpPr>
        <p:spPr>
          <a:xfrm>
            <a:off x="8554212" y="1421892"/>
            <a:ext cx="128016" cy="25603"/>
          </a:xfrm>
          <a:prstGeom prst="rect">
            <a:avLst/>
          </a:prstGeom>
          <a:solidFill>
            <a:srgbClr val="42A5F5"/>
          </a:solidFill>
          <a:ln w="12700">
            <a:solidFill>
              <a:srgbClr val="42A5F5"/>
            </a:solidFill>
            <a:prstDash val="solid"/>
          </a:ln>
        </p:spPr>
      </p:sp>
      <p:sp>
        <p:nvSpPr>
          <p:cNvPr id="35" name="Shape 32"/>
          <p:cNvSpPr/>
          <p:nvPr/>
        </p:nvSpPr>
        <p:spPr>
          <a:xfrm rot="5400000">
            <a:off x="8663940" y="1344168"/>
            <a:ext cx="91440" cy="182880"/>
          </a:xfrm>
          <a:prstGeom prst="triangle">
            <a:avLst/>
          </a:prstGeom>
          <a:solidFill>
            <a:srgbClr val="42A5F5"/>
          </a:solidFill>
          <a:ln w="12700">
            <a:solidFill>
              <a:srgbClr val="42A5F5"/>
            </a:solidFill>
            <a:prstDash val="solid"/>
          </a:ln>
        </p:spPr>
      </p:sp>
      <p:sp>
        <p:nvSpPr>
          <p:cNvPr id="36" name="Shape 33"/>
          <p:cNvSpPr/>
          <p:nvPr/>
        </p:nvSpPr>
        <p:spPr>
          <a:xfrm>
            <a:off x="8778240" y="1078992"/>
            <a:ext cx="1170432" cy="713232"/>
          </a:xfrm>
          <a:prstGeom prst="roundRect">
            <a:avLst>
              <a:gd name="adj" fmla="val 8974"/>
            </a:avLst>
          </a:prstGeom>
          <a:solidFill>
            <a:srgbClr val="2E7D32"/>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7" name="Text 34"/>
          <p:cNvSpPr/>
          <p:nvPr/>
        </p:nvSpPr>
        <p:spPr>
          <a:xfrm>
            <a:off x="8778240" y="1078992"/>
            <a:ext cx="1170432" cy="413675"/>
          </a:xfrm>
          <a:prstGeom prst="rect">
            <a:avLst/>
          </a:prstGeom>
          <a:noFill/>
          <a:ln/>
        </p:spPr>
        <p:txBody>
          <a:bodyPr wrap="square" lIns="25400" tIns="25400" rIns="25400" bIns="25400"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Purified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38" name="Text 35"/>
          <p:cNvSpPr/>
          <p:nvPr/>
        </p:nvSpPr>
        <p:spPr>
          <a:xfrm>
            <a:off x="8778240" y="1506931"/>
            <a:ext cx="1170432" cy="271028"/>
          </a:xfrm>
          <a:prstGeom prst="rect">
            <a:avLst/>
          </a:prstGeom>
          <a:noFill/>
          <a:ln/>
        </p:spPr>
        <p:txBody>
          <a:bodyPr wrap="square" lIns="12700" tIns="12700" rIns="12700" bIns="12700" rtlCol="0" anchor="t"/>
          <a:lstStyle/>
          <a:p>
            <a:pPr algn="ctr" indent="0" marL="0">
              <a:buNone/>
            </a:pPr>
            <a:r>
              <a:rPr lang="en-US" sz="850" dirty="0">
                <a:solidFill>
                  <a:srgbClr val="7B95B4"/>
                </a:solidFill>
                <a:latin typeface="Calibri" pitchFamily="34" charset="0"/>
                <a:ea typeface="Calibri" pitchFamily="34" charset="-122"/>
                <a:cs typeface="Calibri" pitchFamily="34" charset="-120"/>
              </a:rPr>
              <a:t>ASR ↓</a:t>
            </a:r>
            <a:endParaRPr lang="en-US" sz="850" dirty="0"/>
          </a:p>
          <a:p>
            <a:pPr algn="ctr" indent="0" marL="0">
              <a:buNone/>
            </a:pPr>
            <a:r>
              <a:rPr lang="en-US" sz="850" dirty="0">
                <a:solidFill>
                  <a:srgbClr val="7B95B4"/>
                </a:solidFill>
                <a:latin typeface="Calibri" pitchFamily="34" charset="0"/>
                <a:ea typeface="Calibri" pitchFamily="34" charset="-122"/>
                <a:cs typeface="Calibri" pitchFamily="34" charset="-120"/>
              </a:rPr>
              <a:t>CA ≈ intact</a:t>
            </a:r>
            <a:endParaRPr lang="en-US" sz="850" dirty="0"/>
          </a:p>
        </p:txBody>
      </p:sp>
      <p:sp>
        <p:nvSpPr>
          <p:cNvPr id="39" name="Shape 36"/>
          <p:cNvSpPr/>
          <p:nvPr/>
        </p:nvSpPr>
        <p:spPr>
          <a:xfrm>
            <a:off x="274320" y="2029968"/>
            <a:ext cx="2743200" cy="2907792"/>
          </a:xfrm>
          <a:prstGeom prst="roundRect">
            <a:avLst>
              <a:gd name="adj" fmla="val 233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0" name="Shape 37"/>
          <p:cNvSpPr/>
          <p:nvPr/>
        </p:nvSpPr>
        <p:spPr>
          <a:xfrm>
            <a:off x="274320" y="2029968"/>
            <a:ext cx="50292" cy="2907792"/>
          </a:xfrm>
          <a:prstGeom prst="rect">
            <a:avLst/>
          </a:prstGeom>
          <a:solidFill>
            <a:srgbClr val="00897B"/>
          </a:solidFill>
          <a:ln w="12700">
            <a:solidFill>
              <a:srgbClr val="00897B"/>
            </a:solidFill>
            <a:prstDash val="solid"/>
          </a:ln>
        </p:spPr>
      </p:sp>
      <p:sp>
        <p:nvSpPr>
          <p:cNvPr id="41" name="Text 38"/>
          <p:cNvSpPr/>
          <p:nvPr/>
        </p:nvSpPr>
        <p:spPr>
          <a:xfrm>
            <a:off x="411480" y="2112264"/>
            <a:ext cx="2487168" cy="329184"/>
          </a:xfrm>
          <a:prstGeom prst="rect">
            <a:avLst/>
          </a:prstGeom>
          <a:noFill/>
          <a:ln/>
        </p:spPr>
        <p:txBody>
          <a:bodyPr wrap="square" lIns="0" tIns="0" rIns="0" bIns="0" rtlCol="0" anchor="ctr"/>
          <a:lstStyle/>
          <a:p>
            <a:pPr indent="0" marL="0">
              <a:buNone/>
            </a:pPr>
            <a:r>
              <a:rPr lang="en-US" sz="1200" b="1" dirty="0">
                <a:solidFill>
                  <a:srgbClr val="00897B"/>
                </a:solidFill>
                <a:latin typeface="Calibri" pitchFamily="34" charset="0"/>
                <a:ea typeface="Calibri" pitchFamily="34" charset="-122"/>
                <a:cs typeface="Calibri" pitchFamily="34" charset="-120"/>
              </a:rPr>
              <a:t>Step 1–2: Collect &amp; Score</a:t>
            </a:r>
            <a:endParaRPr lang="en-US" sz="1200" dirty="0"/>
          </a:p>
        </p:txBody>
      </p:sp>
      <p:sp>
        <p:nvSpPr>
          <p:cNvPr id="42" name="Text 39"/>
          <p:cNvSpPr/>
          <p:nvPr/>
        </p:nvSpPr>
        <p:spPr>
          <a:xfrm>
            <a:off x="411480" y="2487168"/>
            <a:ext cx="2487168" cy="233172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Register forward hooks on all nn.Linear layers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Run clean reference samples through model</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Compute per-neuron mean absolute activation (MAA)</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MAA = mean of |output| across all samples</a:t>
            </a:r>
            <a:endParaRPr lang="en-US" sz="1150" dirty="0"/>
          </a:p>
        </p:txBody>
      </p:sp>
      <p:sp>
        <p:nvSpPr>
          <p:cNvPr id="43" name="Shape 40"/>
          <p:cNvSpPr/>
          <p:nvPr/>
        </p:nvSpPr>
        <p:spPr>
          <a:xfrm>
            <a:off x="3218688" y="2029968"/>
            <a:ext cx="2743200" cy="2907792"/>
          </a:xfrm>
          <a:prstGeom prst="roundRect">
            <a:avLst>
              <a:gd name="adj" fmla="val 233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4" name="Shape 41"/>
          <p:cNvSpPr/>
          <p:nvPr/>
        </p:nvSpPr>
        <p:spPr>
          <a:xfrm>
            <a:off x="3218688" y="2029968"/>
            <a:ext cx="50292" cy="2907792"/>
          </a:xfrm>
          <a:prstGeom prst="rect">
            <a:avLst/>
          </a:prstGeom>
          <a:solidFill>
            <a:srgbClr val="42A5F5"/>
          </a:solidFill>
          <a:ln w="12700">
            <a:solidFill>
              <a:srgbClr val="42A5F5"/>
            </a:solidFill>
            <a:prstDash val="solid"/>
          </a:ln>
        </p:spPr>
      </p:sp>
      <p:sp>
        <p:nvSpPr>
          <p:cNvPr id="45" name="Text 42"/>
          <p:cNvSpPr/>
          <p:nvPr/>
        </p:nvSpPr>
        <p:spPr>
          <a:xfrm>
            <a:off x="3355848" y="2112264"/>
            <a:ext cx="2487168" cy="329184"/>
          </a:xfrm>
          <a:prstGeom prst="rect">
            <a:avLst/>
          </a:prstGeom>
          <a:noFill/>
          <a:ln/>
        </p:spPr>
        <p:txBody>
          <a:bodyPr wrap="square" lIns="0" tIns="0" rIns="0" bIns="0" rtlCol="0" anchor="ctr"/>
          <a:lstStyle/>
          <a:p>
            <a:pPr indent="0" marL="0">
              <a:buNone/>
            </a:pPr>
            <a:r>
              <a:rPr lang="en-US" sz="1200" b="1" dirty="0">
                <a:solidFill>
                  <a:srgbClr val="42A5F5"/>
                </a:solidFill>
                <a:latin typeface="Calibri" pitchFamily="34" charset="0"/>
                <a:ea typeface="Calibri" pitchFamily="34" charset="-122"/>
                <a:cs typeface="Calibri" pitchFamily="34" charset="-120"/>
              </a:rPr>
              <a:t>Step 3: Detect Suspicious</a:t>
            </a:r>
            <a:endParaRPr lang="en-US" sz="1200" dirty="0"/>
          </a:p>
        </p:txBody>
      </p:sp>
      <p:sp>
        <p:nvSpPr>
          <p:cNvPr id="46" name="Text 43"/>
          <p:cNvSpPr/>
          <p:nvPr/>
        </p:nvSpPr>
        <p:spPr>
          <a:xfrm>
            <a:off x="3355848" y="2487168"/>
            <a:ext cx="2487168" cy="233172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Min-max normalise MAA scores per layer to [0,1]</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Neurons above threshold → suspicious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Returns LongTensor of neuron indices per layer</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Threshold configurable (default = 0.5)</a:t>
            </a:r>
            <a:endParaRPr lang="en-US" sz="1150" dirty="0"/>
          </a:p>
        </p:txBody>
      </p:sp>
      <p:sp>
        <p:nvSpPr>
          <p:cNvPr id="47" name="Shape 44"/>
          <p:cNvSpPr/>
          <p:nvPr/>
        </p:nvSpPr>
        <p:spPr>
          <a:xfrm>
            <a:off x="6163056" y="2029968"/>
            <a:ext cx="2743200" cy="2907792"/>
          </a:xfrm>
          <a:prstGeom prst="roundRect">
            <a:avLst>
              <a:gd name="adj" fmla="val 233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48" name="Shape 45"/>
          <p:cNvSpPr/>
          <p:nvPr/>
        </p:nvSpPr>
        <p:spPr>
          <a:xfrm>
            <a:off x="6163056" y="2029968"/>
            <a:ext cx="50292" cy="2907792"/>
          </a:xfrm>
          <a:prstGeom prst="rect">
            <a:avLst/>
          </a:prstGeom>
          <a:solidFill>
            <a:srgbClr val="80CBC4"/>
          </a:solidFill>
          <a:ln w="12700">
            <a:solidFill>
              <a:srgbClr val="80CBC4"/>
            </a:solidFill>
            <a:prstDash val="solid"/>
          </a:ln>
        </p:spPr>
      </p:sp>
      <p:sp>
        <p:nvSpPr>
          <p:cNvPr id="49" name="Text 46"/>
          <p:cNvSpPr/>
          <p:nvPr/>
        </p:nvSpPr>
        <p:spPr>
          <a:xfrm>
            <a:off x="6300216" y="2112264"/>
            <a:ext cx="2487168" cy="329184"/>
          </a:xfrm>
          <a:prstGeom prst="rect">
            <a:avLst/>
          </a:prstGeom>
          <a:noFill/>
          <a:ln/>
        </p:spPr>
        <p:txBody>
          <a:bodyPr wrap="square" lIns="0" tIns="0" rIns="0" bIns="0" rtlCol="0" anchor="ctr"/>
          <a:lstStyle/>
          <a:p>
            <a:pPr indent="0" marL="0">
              <a:buNone/>
            </a:pPr>
            <a:r>
              <a:rPr lang="en-US" sz="1200" b="1" dirty="0">
                <a:solidFill>
                  <a:srgbClr val="80CBC4"/>
                </a:solidFill>
                <a:latin typeface="Calibri" pitchFamily="34" charset="0"/>
                <a:ea typeface="Calibri" pitchFamily="34" charset="-122"/>
                <a:cs typeface="Calibri" pitchFamily="34" charset="-120"/>
              </a:rPr>
              <a:t>Step 4–6: Prune &amp; Fine-tune</a:t>
            </a:r>
            <a:endParaRPr lang="en-US" sz="1200" dirty="0"/>
          </a:p>
        </p:txBody>
      </p:sp>
      <p:sp>
        <p:nvSpPr>
          <p:cNvPr id="50" name="Text 47"/>
          <p:cNvSpPr/>
          <p:nvPr/>
        </p:nvSpPr>
        <p:spPr>
          <a:xfrm>
            <a:off x="6300216" y="2487168"/>
            <a:ext cx="2487168" cy="233172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prune_suspicious_neurons(): zero W rows + bias</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prune_neurons(): zero W columns (outgoing)</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Fine-tune on clean data — 10 epochs sufficient</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Model structure and parameter count preserved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Suspicious Neuron Detection &amp; Pruning</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Activation scoring, thresholding, and weight zeroing</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sp>
        <p:nvSpPr>
          <p:cNvPr id="6" name="Text 3"/>
          <p:cNvSpPr/>
          <p:nvPr/>
        </p:nvSpPr>
        <p:spPr>
          <a:xfrm>
            <a:off x="320040" y="1024128"/>
            <a:ext cx="4572000" cy="256032"/>
          </a:xfrm>
          <a:prstGeom prst="rect">
            <a:avLst/>
          </a:prstGeom>
          <a:noFill/>
          <a:ln/>
        </p:spPr>
        <p:txBody>
          <a:bodyPr wrap="square" lIns="0" tIns="0" rIns="0" bIns="0" rtlCol="0" anchor="ctr"/>
          <a:lstStyle/>
          <a:p>
            <a:pPr indent="0" marL="0">
              <a:buNone/>
            </a:pPr>
            <a:r>
              <a:rPr lang="en-US" sz="1100" b="1" dirty="0">
                <a:solidFill>
                  <a:srgbClr val="42A5F5"/>
                </a:solidFill>
                <a:latin typeface="Calibri" pitchFamily="34" charset="0"/>
                <a:ea typeface="Calibri" pitchFamily="34" charset="-122"/>
                <a:cs typeface="Calibri" pitchFamily="34" charset="-120"/>
              </a:rPr>
              <a:t>Per-neuron Mean Absolute Activation (MAA)</a:t>
            </a:r>
            <a:endParaRPr lang="en-US" sz="1100" dirty="0"/>
          </a:p>
        </p:txBody>
      </p:sp>
      <p:sp>
        <p:nvSpPr>
          <p:cNvPr id="7" name="Shape 4"/>
          <p:cNvSpPr/>
          <p:nvPr/>
        </p:nvSpPr>
        <p:spPr>
          <a:xfrm>
            <a:off x="347472" y="2579522"/>
            <a:ext cx="192024" cy="255118"/>
          </a:xfrm>
          <a:prstGeom prst="rect">
            <a:avLst/>
          </a:prstGeom>
          <a:solidFill>
            <a:srgbClr val="1976D2"/>
          </a:solidFill>
          <a:ln w="12700">
            <a:solidFill>
              <a:srgbClr val="1976D2"/>
            </a:solidFill>
            <a:prstDash val="solid"/>
          </a:ln>
        </p:spPr>
      </p:sp>
      <p:sp>
        <p:nvSpPr>
          <p:cNvPr id="8" name="Shape 5"/>
          <p:cNvSpPr/>
          <p:nvPr/>
        </p:nvSpPr>
        <p:spPr>
          <a:xfrm>
            <a:off x="571500" y="2381098"/>
            <a:ext cx="192024" cy="453542"/>
          </a:xfrm>
          <a:prstGeom prst="rect">
            <a:avLst/>
          </a:prstGeom>
          <a:solidFill>
            <a:srgbClr val="1976D2"/>
          </a:solidFill>
          <a:ln w="12700">
            <a:solidFill>
              <a:srgbClr val="1976D2"/>
            </a:solidFill>
            <a:prstDash val="solid"/>
          </a:ln>
        </p:spPr>
      </p:sp>
      <p:sp>
        <p:nvSpPr>
          <p:cNvPr id="9" name="Shape 6"/>
          <p:cNvSpPr/>
          <p:nvPr/>
        </p:nvSpPr>
        <p:spPr>
          <a:xfrm>
            <a:off x="795528" y="2437790"/>
            <a:ext cx="192024" cy="396850"/>
          </a:xfrm>
          <a:prstGeom prst="rect">
            <a:avLst/>
          </a:prstGeom>
          <a:solidFill>
            <a:srgbClr val="1976D2"/>
          </a:solidFill>
          <a:ln w="12700">
            <a:solidFill>
              <a:srgbClr val="1976D2"/>
            </a:solidFill>
            <a:prstDash val="solid"/>
          </a:ln>
        </p:spPr>
      </p:sp>
      <p:sp>
        <p:nvSpPr>
          <p:cNvPr id="10" name="Shape 7"/>
          <p:cNvSpPr/>
          <p:nvPr/>
        </p:nvSpPr>
        <p:spPr>
          <a:xfrm>
            <a:off x="1019556" y="1544879"/>
            <a:ext cx="192024" cy="1289761"/>
          </a:xfrm>
          <a:prstGeom prst="rect">
            <a:avLst/>
          </a:prstGeom>
          <a:solidFill>
            <a:srgbClr val="C62828"/>
          </a:solidFill>
          <a:ln w="12700">
            <a:solidFill>
              <a:srgbClr val="C62828"/>
            </a:solidFill>
            <a:prstDash val="solid"/>
          </a:ln>
        </p:spPr>
      </p:sp>
      <p:sp>
        <p:nvSpPr>
          <p:cNvPr id="11" name="Shape 8"/>
          <p:cNvSpPr/>
          <p:nvPr/>
        </p:nvSpPr>
        <p:spPr>
          <a:xfrm>
            <a:off x="1243584" y="2522830"/>
            <a:ext cx="192024" cy="311810"/>
          </a:xfrm>
          <a:prstGeom prst="rect">
            <a:avLst/>
          </a:prstGeom>
          <a:solidFill>
            <a:srgbClr val="1976D2"/>
          </a:solidFill>
          <a:ln w="12700">
            <a:solidFill>
              <a:srgbClr val="1976D2"/>
            </a:solidFill>
            <a:prstDash val="solid"/>
          </a:ln>
        </p:spPr>
      </p:sp>
      <p:sp>
        <p:nvSpPr>
          <p:cNvPr id="12" name="Shape 9"/>
          <p:cNvSpPr/>
          <p:nvPr/>
        </p:nvSpPr>
        <p:spPr>
          <a:xfrm>
            <a:off x="1467612" y="2622042"/>
            <a:ext cx="192024" cy="212598"/>
          </a:xfrm>
          <a:prstGeom prst="rect">
            <a:avLst/>
          </a:prstGeom>
          <a:solidFill>
            <a:srgbClr val="1976D2"/>
          </a:solidFill>
          <a:ln w="12700">
            <a:solidFill>
              <a:srgbClr val="1976D2"/>
            </a:solidFill>
            <a:prstDash val="solid"/>
          </a:ln>
        </p:spPr>
      </p:sp>
      <p:sp>
        <p:nvSpPr>
          <p:cNvPr id="13" name="Shape 10"/>
          <p:cNvSpPr/>
          <p:nvPr/>
        </p:nvSpPr>
        <p:spPr>
          <a:xfrm>
            <a:off x="1691640" y="1587398"/>
            <a:ext cx="192024" cy="1247242"/>
          </a:xfrm>
          <a:prstGeom prst="rect">
            <a:avLst/>
          </a:prstGeom>
          <a:solidFill>
            <a:srgbClr val="C62828"/>
          </a:solidFill>
          <a:ln w="12700">
            <a:solidFill>
              <a:srgbClr val="C62828"/>
            </a:solidFill>
            <a:prstDash val="solid"/>
          </a:ln>
        </p:spPr>
      </p:sp>
      <p:sp>
        <p:nvSpPr>
          <p:cNvPr id="14" name="Shape 11"/>
          <p:cNvSpPr/>
          <p:nvPr/>
        </p:nvSpPr>
        <p:spPr>
          <a:xfrm>
            <a:off x="1915668" y="2423617"/>
            <a:ext cx="192024" cy="411023"/>
          </a:xfrm>
          <a:prstGeom prst="rect">
            <a:avLst/>
          </a:prstGeom>
          <a:solidFill>
            <a:srgbClr val="1976D2"/>
          </a:solidFill>
          <a:ln w="12700">
            <a:solidFill>
              <a:srgbClr val="1976D2"/>
            </a:solidFill>
            <a:prstDash val="solid"/>
          </a:ln>
        </p:spPr>
      </p:sp>
      <p:sp>
        <p:nvSpPr>
          <p:cNvPr id="15" name="Shape 12"/>
          <p:cNvSpPr/>
          <p:nvPr/>
        </p:nvSpPr>
        <p:spPr>
          <a:xfrm>
            <a:off x="2139696" y="2565349"/>
            <a:ext cx="192024" cy="269291"/>
          </a:xfrm>
          <a:prstGeom prst="rect">
            <a:avLst/>
          </a:prstGeom>
          <a:solidFill>
            <a:srgbClr val="1976D2"/>
          </a:solidFill>
          <a:ln w="12700">
            <a:solidFill>
              <a:srgbClr val="1976D2"/>
            </a:solidFill>
            <a:prstDash val="solid"/>
          </a:ln>
        </p:spPr>
      </p:sp>
      <p:sp>
        <p:nvSpPr>
          <p:cNvPr id="16" name="Shape 13"/>
          <p:cNvSpPr/>
          <p:nvPr/>
        </p:nvSpPr>
        <p:spPr>
          <a:xfrm>
            <a:off x="2363724" y="2338578"/>
            <a:ext cx="192024" cy="496062"/>
          </a:xfrm>
          <a:prstGeom prst="rect">
            <a:avLst/>
          </a:prstGeom>
          <a:solidFill>
            <a:srgbClr val="1976D2"/>
          </a:solidFill>
          <a:ln w="12700">
            <a:solidFill>
              <a:srgbClr val="1976D2"/>
            </a:solidFill>
            <a:prstDash val="solid"/>
          </a:ln>
        </p:spPr>
      </p:sp>
      <p:sp>
        <p:nvSpPr>
          <p:cNvPr id="17" name="Shape 14"/>
          <p:cNvSpPr/>
          <p:nvPr/>
        </p:nvSpPr>
        <p:spPr>
          <a:xfrm>
            <a:off x="2587752" y="1601572"/>
            <a:ext cx="192024" cy="1233068"/>
          </a:xfrm>
          <a:prstGeom prst="rect">
            <a:avLst/>
          </a:prstGeom>
          <a:solidFill>
            <a:srgbClr val="C62828"/>
          </a:solidFill>
          <a:ln w="12700">
            <a:solidFill>
              <a:srgbClr val="C62828"/>
            </a:solidFill>
            <a:prstDash val="solid"/>
          </a:ln>
        </p:spPr>
      </p:sp>
      <p:sp>
        <p:nvSpPr>
          <p:cNvPr id="18" name="Shape 15"/>
          <p:cNvSpPr/>
          <p:nvPr/>
        </p:nvSpPr>
        <p:spPr>
          <a:xfrm>
            <a:off x="2811780" y="2537003"/>
            <a:ext cx="192024" cy="297637"/>
          </a:xfrm>
          <a:prstGeom prst="rect">
            <a:avLst/>
          </a:prstGeom>
          <a:solidFill>
            <a:srgbClr val="1976D2"/>
          </a:solidFill>
          <a:ln w="12700">
            <a:solidFill>
              <a:srgbClr val="1976D2"/>
            </a:solidFill>
            <a:prstDash val="solid"/>
          </a:ln>
        </p:spPr>
      </p:sp>
      <p:sp>
        <p:nvSpPr>
          <p:cNvPr id="19" name="Shape 16"/>
          <p:cNvSpPr/>
          <p:nvPr/>
        </p:nvSpPr>
        <p:spPr>
          <a:xfrm>
            <a:off x="3035808" y="2466137"/>
            <a:ext cx="192024" cy="368503"/>
          </a:xfrm>
          <a:prstGeom prst="rect">
            <a:avLst/>
          </a:prstGeom>
          <a:solidFill>
            <a:srgbClr val="1976D2"/>
          </a:solidFill>
          <a:ln w="12700">
            <a:solidFill>
              <a:srgbClr val="1976D2"/>
            </a:solidFill>
            <a:prstDash val="solid"/>
          </a:ln>
        </p:spPr>
      </p:sp>
      <p:sp>
        <p:nvSpPr>
          <p:cNvPr id="20" name="Shape 17"/>
          <p:cNvSpPr/>
          <p:nvPr/>
        </p:nvSpPr>
        <p:spPr>
          <a:xfrm>
            <a:off x="3259836" y="1516532"/>
            <a:ext cx="192024" cy="1318108"/>
          </a:xfrm>
          <a:prstGeom prst="rect">
            <a:avLst/>
          </a:prstGeom>
          <a:solidFill>
            <a:srgbClr val="C62828"/>
          </a:solidFill>
          <a:ln w="12700">
            <a:solidFill>
              <a:srgbClr val="C62828"/>
            </a:solidFill>
            <a:prstDash val="solid"/>
          </a:ln>
        </p:spPr>
      </p:sp>
      <p:sp>
        <p:nvSpPr>
          <p:cNvPr id="21" name="Shape 18"/>
          <p:cNvSpPr/>
          <p:nvPr/>
        </p:nvSpPr>
        <p:spPr>
          <a:xfrm>
            <a:off x="3483864" y="2494483"/>
            <a:ext cx="192024" cy="340157"/>
          </a:xfrm>
          <a:prstGeom prst="rect">
            <a:avLst/>
          </a:prstGeom>
          <a:solidFill>
            <a:srgbClr val="1976D2"/>
          </a:solidFill>
          <a:ln w="12700">
            <a:solidFill>
              <a:srgbClr val="1976D2"/>
            </a:solidFill>
            <a:prstDash val="solid"/>
          </a:ln>
        </p:spPr>
      </p:sp>
      <p:sp>
        <p:nvSpPr>
          <p:cNvPr id="22" name="Shape 19"/>
          <p:cNvSpPr/>
          <p:nvPr/>
        </p:nvSpPr>
        <p:spPr>
          <a:xfrm>
            <a:off x="3707892" y="2593696"/>
            <a:ext cx="192024" cy="240944"/>
          </a:xfrm>
          <a:prstGeom prst="rect">
            <a:avLst/>
          </a:prstGeom>
          <a:solidFill>
            <a:srgbClr val="1976D2"/>
          </a:solidFill>
          <a:ln w="12700">
            <a:solidFill>
              <a:srgbClr val="1976D2"/>
            </a:solidFill>
            <a:prstDash val="solid"/>
          </a:ln>
        </p:spPr>
      </p:sp>
      <p:sp>
        <p:nvSpPr>
          <p:cNvPr id="23" name="Shape 20"/>
          <p:cNvSpPr/>
          <p:nvPr/>
        </p:nvSpPr>
        <p:spPr>
          <a:xfrm>
            <a:off x="3931920" y="2395271"/>
            <a:ext cx="192024" cy="439369"/>
          </a:xfrm>
          <a:prstGeom prst="rect">
            <a:avLst/>
          </a:prstGeom>
          <a:solidFill>
            <a:srgbClr val="1976D2"/>
          </a:solidFill>
          <a:ln w="12700">
            <a:solidFill>
              <a:srgbClr val="1976D2"/>
            </a:solidFill>
            <a:prstDash val="solid"/>
          </a:ln>
        </p:spPr>
      </p:sp>
      <p:sp>
        <p:nvSpPr>
          <p:cNvPr id="24" name="Shape 21"/>
          <p:cNvSpPr/>
          <p:nvPr/>
        </p:nvSpPr>
        <p:spPr>
          <a:xfrm>
            <a:off x="4155948" y="1629918"/>
            <a:ext cx="192024" cy="1204722"/>
          </a:xfrm>
          <a:prstGeom prst="rect">
            <a:avLst/>
          </a:prstGeom>
          <a:solidFill>
            <a:srgbClr val="C62828"/>
          </a:solidFill>
          <a:ln w="12700">
            <a:solidFill>
              <a:srgbClr val="C62828"/>
            </a:solidFill>
            <a:prstDash val="solid"/>
          </a:ln>
        </p:spPr>
      </p:sp>
      <p:sp>
        <p:nvSpPr>
          <p:cNvPr id="25" name="Shape 22"/>
          <p:cNvSpPr/>
          <p:nvPr/>
        </p:nvSpPr>
        <p:spPr>
          <a:xfrm>
            <a:off x="4379976" y="2551176"/>
            <a:ext cx="192024" cy="283464"/>
          </a:xfrm>
          <a:prstGeom prst="rect">
            <a:avLst/>
          </a:prstGeom>
          <a:solidFill>
            <a:srgbClr val="1976D2"/>
          </a:solidFill>
          <a:ln w="12700">
            <a:solidFill>
              <a:srgbClr val="1976D2"/>
            </a:solidFill>
            <a:prstDash val="solid"/>
          </a:ln>
        </p:spPr>
      </p:sp>
      <p:sp>
        <p:nvSpPr>
          <p:cNvPr id="26" name="Shape 23"/>
          <p:cNvSpPr/>
          <p:nvPr/>
        </p:nvSpPr>
        <p:spPr>
          <a:xfrm>
            <a:off x="4604004" y="2451964"/>
            <a:ext cx="192024" cy="382676"/>
          </a:xfrm>
          <a:prstGeom prst="rect">
            <a:avLst/>
          </a:prstGeom>
          <a:solidFill>
            <a:srgbClr val="1976D2"/>
          </a:solidFill>
          <a:ln w="12700">
            <a:solidFill>
              <a:srgbClr val="1976D2"/>
            </a:solidFill>
            <a:prstDash val="solid"/>
          </a:ln>
        </p:spPr>
      </p:sp>
      <p:sp>
        <p:nvSpPr>
          <p:cNvPr id="27" name="Shape 24"/>
          <p:cNvSpPr/>
          <p:nvPr/>
        </p:nvSpPr>
        <p:spPr>
          <a:xfrm>
            <a:off x="320040" y="2125980"/>
            <a:ext cx="4590288" cy="22860"/>
          </a:xfrm>
          <a:prstGeom prst="rect">
            <a:avLst/>
          </a:prstGeom>
          <a:solidFill>
            <a:srgbClr val="F57C00"/>
          </a:solidFill>
          <a:ln w="12700">
            <a:solidFill>
              <a:srgbClr val="F57C00"/>
            </a:solidFill>
            <a:prstDash val="solid"/>
          </a:ln>
        </p:spPr>
      </p:sp>
      <p:sp>
        <p:nvSpPr>
          <p:cNvPr id="28" name="Text 25"/>
          <p:cNvSpPr/>
          <p:nvPr/>
        </p:nvSpPr>
        <p:spPr>
          <a:xfrm>
            <a:off x="4910328" y="2084832"/>
            <a:ext cx="1371600" cy="219456"/>
          </a:xfrm>
          <a:prstGeom prst="rect">
            <a:avLst/>
          </a:prstGeom>
          <a:noFill/>
          <a:ln/>
        </p:spPr>
        <p:txBody>
          <a:bodyPr wrap="square" lIns="0" tIns="0" rIns="0" bIns="0" rtlCol="0" anchor="ctr"/>
          <a:lstStyle/>
          <a:p>
            <a:pPr indent="0" marL="0">
              <a:buNone/>
            </a:pPr>
            <a:r>
              <a:rPr lang="en-US" sz="950" dirty="0">
                <a:solidFill>
                  <a:srgbClr val="F57C00"/>
                </a:solidFill>
                <a:latin typeface="Calibri" pitchFamily="34" charset="0"/>
                <a:ea typeface="Calibri" pitchFamily="34" charset="-122"/>
                <a:cs typeface="Calibri" pitchFamily="34" charset="-120"/>
              </a:rPr>
              <a:t>threshold = 0.5</a:t>
            </a:r>
            <a:endParaRPr lang="en-US" sz="950" dirty="0"/>
          </a:p>
        </p:txBody>
      </p:sp>
      <p:sp>
        <p:nvSpPr>
          <p:cNvPr id="29" name="Text 26"/>
          <p:cNvSpPr/>
          <p:nvPr/>
        </p:nvSpPr>
        <p:spPr>
          <a:xfrm>
            <a:off x="320040" y="2852928"/>
            <a:ext cx="4572000" cy="201168"/>
          </a:xfrm>
          <a:prstGeom prst="rect">
            <a:avLst/>
          </a:prstGeom>
          <a:noFill/>
          <a:ln/>
        </p:spPr>
        <p:txBody>
          <a:bodyPr wrap="square" lIns="0" tIns="0" rIns="0" bIns="0" rtlCol="0" anchor="ctr"/>
          <a:lstStyle/>
          <a:p>
            <a:pPr indent="0" marL="0">
              <a:buNone/>
            </a:pPr>
            <a:r>
              <a:rPr lang="en-US" sz="900" dirty="0">
                <a:solidFill>
                  <a:srgbClr val="7B95B4"/>
                </a:solidFill>
                <a:latin typeface="Calibri" pitchFamily="34" charset="0"/>
                <a:ea typeface="Calibri" pitchFamily="34" charset="-122"/>
                <a:cs typeface="Calibri" pitchFamily="34" charset="-120"/>
              </a:rPr>
              <a:t>Neuron index →</a:t>
            </a:r>
            <a:endParaRPr lang="en-US" sz="900" dirty="0"/>
          </a:p>
        </p:txBody>
      </p:sp>
      <p:sp>
        <p:nvSpPr>
          <p:cNvPr id="30" name="Text 27"/>
          <p:cNvSpPr/>
          <p:nvPr/>
        </p:nvSpPr>
        <p:spPr>
          <a:xfrm>
            <a:off x="320040" y="3072384"/>
            <a:ext cx="4572000" cy="201168"/>
          </a:xfrm>
          <a:prstGeom prst="rect">
            <a:avLst/>
          </a:prstGeom>
          <a:noFill/>
          <a:ln/>
        </p:spPr>
        <p:txBody>
          <a:bodyPr wrap="square" lIns="0" tIns="0" rIns="0" bIns="0" rtlCol="0" anchor="ctr"/>
          <a:lstStyle/>
          <a:p>
            <a:pPr indent="0" marL="0">
              <a:buNone/>
            </a:pPr>
            <a:r>
              <a:rPr lang="en-US" sz="950" i="1" dirty="0">
                <a:solidFill>
                  <a:srgbClr val="7B95B4"/>
                </a:solidFill>
                <a:latin typeface="Calibri" pitchFamily="34" charset="0"/>
                <a:ea typeface="Calibri" pitchFamily="34" charset="-122"/>
                <a:cs typeface="Calibri" pitchFamily="34" charset="-120"/>
              </a:rPr>
              <a:t>Red = suspicious  ·  Blue = normal</a:t>
            </a:r>
            <a:endParaRPr lang="en-US" sz="950" dirty="0"/>
          </a:p>
        </p:txBody>
      </p:sp>
      <p:sp>
        <p:nvSpPr>
          <p:cNvPr id="31" name="Shape 28"/>
          <p:cNvSpPr/>
          <p:nvPr/>
        </p:nvSpPr>
        <p:spPr>
          <a:xfrm>
            <a:off x="320040" y="3328416"/>
            <a:ext cx="4526280" cy="1572768"/>
          </a:xfrm>
          <a:prstGeom prst="roundRect">
            <a:avLst>
              <a:gd name="adj" fmla="val 4070"/>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2" name="Shape 29"/>
          <p:cNvSpPr/>
          <p:nvPr/>
        </p:nvSpPr>
        <p:spPr>
          <a:xfrm>
            <a:off x="320040" y="3328416"/>
            <a:ext cx="50292" cy="1572768"/>
          </a:xfrm>
          <a:prstGeom prst="rect">
            <a:avLst/>
          </a:prstGeom>
          <a:solidFill>
            <a:srgbClr val="42A5F5"/>
          </a:solidFill>
          <a:ln w="12700">
            <a:solidFill>
              <a:srgbClr val="42A5F5"/>
            </a:solidFill>
            <a:prstDash val="solid"/>
          </a:ln>
        </p:spPr>
      </p:sp>
      <p:sp>
        <p:nvSpPr>
          <p:cNvPr id="33" name="Text 30"/>
          <p:cNvSpPr/>
          <p:nvPr/>
        </p:nvSpPr>
        <p:spPr>
          <a:xfrm>
            <a:off x="502920" y="3401568"/>
            <a:ext cx="4206240" cy="310896"/>
          </a:xfrm>
          <a:prstGeom prst="rect">
            <a:avLst/>
          </a:prstGeom>
          <a:noFill/>
          <a:ln/>
        </p:spPr>
        <p:txBody>
          <a:bodyPr wrap="square" lIns="0" tIns="0" rIns="0" bIns="0" rtlCol="0" anchor="ctr"/>
          <a:lstStyle/>
          <a:p>
            <a:pPr indent="0" marL="0">
              <a:buNone/>
            </a:pPr>
            <a:r>
              <a:rPr lang="en-US" sz="1150" b="1" dirty="0">
                <a:solidFill>
                  <a:srgbClr val="42A5F5"/>
                </a:solidFill>
                <a:latin typeface="Calibri" pitchFamily="34" charset="0"/>
                <a:ea typeface="Calibri" pitchFamily="34" charset="-122"/>
                <a:cs typeface="Calibri" pitchFamily="34" charset="-120"/>
              </a:rPr>
              <a:t>compute_neuron_scores() + detect_suspicious_neurons()</a:t>
            </a:r>
            <a:endParaRPr lang="en-US" sz="1150" dirty="0"/>
          </a:p>
        </p:txBody>
      </p:sp>
      <p:sp>
        <p:nvSpPr>
          <p:cNvPr id="34" name="Text 31"/>
          <p:cNvSpPr/>
          <p:nvPr/>
        </p:nvSpPr>
        <p:spPr>
          <a:xfrm>
            <a:off x="502920" y="3749040"/>
            <a:ext cx="4206240" cy="1051560"/>
          </a:xfrm>
          <a:prstGeom prst="rect">
            <a:avLst/>
          </a:prstGeom>
          <a:noFill/>
          <a:ln/>
        </p:spPr>
        <p:txBody>
          <a:bodyPr wrap="square" lIns="50800" tIns="50800" rIns="50800" bIns="50800" rtlCol="0" anchor="t"/>
          <a:lstStyle/>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MAA score = activation tensor → abs() → mean(dim=0)</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Normalise: (score − min) / (max − min) per layer</a:t>
            </a:r>
            <a:endParaRPr lang="en-US" sz="1150" dirty="0"/>
          </a:p>
          <a:p>
            <a:pPr marL="342900" indent="-342900">
              <a:spcAft>
                <a:spcPts val="200"/>
              </a:spcAft>
              <a:buSzPct val="100000"/>
              <a:buChar char="•"/>
            </a:pPr>
            <a:r>
              <a:rPr lang="en-US" sz="1150" dirty="0">
                <a:solidFill>
                  <a:srgbClr val="E3EBF6"/>
                </a:solidFill>
                <a:latin typeface="Calibri" pitchFamily="34" charset="0"/>
                <a:ea typeface="Calibri" pitchFamily="34" charset="-122"/>
                <a:cs typeface="Calibri" pitchFamily="34" charset="-120"/>
              </a:rPr>
              <a:t>Return LongTensor of indices where score &gt; threshold</a:t>
            </a:r>
            <a:endParaRPr lang="en-US" sz="1150" dirty="0"/>
          </a:p>
        </p:txBody>
      </p:sp>
      <p:sp>
        <p:nvSpPr>
          <p:cNvPr id="35" name="Shape 32"/>
          <p:cNvSpPr/>
          <p:nvPr/>
        </p:nvSpPr>
        <p:spPr>
          <a:xfrm>
            <a:off x="5074920" y="1024128"/>
            <a:ext cx="3703320" cy="3877056"/>
          </a:xfrm>
          <a:prstGeom prst="roundRect">
            <a:avLst>
              <a:gd name="adj" fmla="val 1728"/>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36" name="Shape 33"/>
          <p:cNvSpPr/>
          <p:nvPr/>
        </p:nvSpPr>
        <p:spPr>
          <a:xfrm>
            <a:off x="5074920" y="1024128"/>
            <a:ext cx="50292" cy="3877056"/>
          </a:xfrm>
          <a:prstGeom prst="rect">
            <a:avLst/>
          </a:prstGeom>
          <a:solidFill>
            <a:srgbClr val="C62828"/>
          </a:solidFill>
          <a:ln w="12700">
            <a:solidFill>
              <a:srgbClr val="C62828"/>
            </a:solidFill>
            <a:prstDash val="solid"/>
          </a:ln>
        </p:spPr>
      </p:sp>
      <p:sp>
        <p:nvSpPr>
          <p:cNvPr id="37" name="Text 34"/>
          <p:cNvSpPr/>
          <p:nvPr/>
        </p:nvSpPr>
        <p:spPr>
          <a:xfrm>
            <a:off x="5257800" y="1115568"/>
            <a:ext cx="3383280" cy="310896"/>
          </a:xfrm>
          <a:prstGeom prst="rect">
            <a:avLst/>
          </a:prstGeom>
          <a:noFill/>
          <a:ln/>
        </p:spPr>
        <p:txBody>
          <a:bodyPr wrap="square" lIns="0" tIns="0" rIns="0" bIns="0" rtlCol="0" anchor="ctr"/>
          <a:lstStyle/>
          <a:p>
            <a:pPr indent="0" marL="0">
              <a:buNone/>
            </a:pPr>
            <a:r>
              <a:rPr lang="en-US" sz="1300" b="1" dirty="0">
                <a:solidFill>
                  <a:srgbClr val="EF9A9A"/>
                </a:solidFill>
                <a:latin typeface="Calibri" pitchFamily="34" charset="0"/>
                <a:ea typeface="Calibri" pitchFamily="34" charset="-122"/>
                <a:cs typeface="Calibri" pitchFamily="34" charset="-120"/>
              </a:rPr>
              <a:t>Pruning Functions</a:t>
            </a:r>
            <a:endParaRPr lang="en-US" sz="1300" dirty="0"/>
          </a:p>
        </p:txBody>
      </p:sp>
      <p:sp>
        <p:nvSpPr>
          <p:cNvPr id="38" name="Text 35"/>
          <p:cNvSpPr/>
          <p:nvPr/>
        </p:nvSpPr>
        <p:spPr>
          <a:xfrm>
            <a:off x="5257800" y="1481328"/>
            <a:ext cx="3383280" cy="256032"/>
          </a:xfrm>
          <a:prstGeom prst="rect">
            <a:avLst/>
          </a:prstGeom>
          <a:noFill/>
          <a:ln/>
        </p:spPr>
        <p:txBody>
          <a:bodyPr wrap="square" lIns="0" tIns="0" rIns="0" bIns="0" rtlCol="0" anchor="ctr"/>
          <a:lstStyle/>
          <a:p>
            <a:pPr indent="0" marL="0">
              <a:buNone/>
            </a:pPr>
            <a:r>
              <a:rPr lang="en-US" sz="1150" b="1" dirty="0">
                <a:solidFill>
                  <a:srgbClr val="EF9A9A"/>
                </a:solidFill>
                <a:latin typeface="Calibri" pitchFamily="34" charset="0"/>
                <a:ea typeface="Calibri" pitchFamily="34" charset="-122"/>
                <a:cs typeface="Calibri" pitchFamily="34" charset="-120"/>
              </a:rPr>
              <a:t>prune_suspicious_neurons()</a:t>
            </a:r>
            <a:endParaRPr lang="en-US" sz="1150" dirty="0"/>
          </a:p>
        </p:txBody>
      </p:sp>
      <p:sp>
        <p:nvSpPr>
          <p:cNvPr id="39" name="Text 36"/>
          <p:cNvSpPr/>
          <p:nvPr/>
        </p:nvSpPr>
        <p:spPr>
          <a:xfrm>
            <a:off x="5257800" y="1773936"/>
            <a:ext cx="3383280" cy="1005840"/>
          </a:xfrm>
          <a:prstGeom prst="rect">
            <a:avLst/>
          </a:prstGeom>
          <a:noFill/>
          <a:ln/>
        </p:spPr>
        <p:txBody>
          <a:bodyPr wrap="square" lIns="50800" tIns="50800" rIns="50800" bIns="50800" rtlCol="0" anchor="t"/>
          <a:lstStyle/>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Zeros W[indices, :] — entire output rows</a:t>
            </a:r>
            <a:endParaRPr lang="en-US" sz="1100" dirty="0"/>
          </a:p>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Zeros b[indices]   — corresponding biases</a:t>
            </a:r>
            <a:endParaRPr lang="en-US" sz="1100" dirty="0"/>
          </a:p>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Removes full output contribution of flagged neurons</a:t>
            </a:r>
            <a:endParaRPr lang="en-US" sz="1100" dirty="0"/>
          </a:p>
        </p:txBody>
      </p:sp>
      <p:sp>
        <p:nvSpPr>
          <p:cNvPr id="40" name="Shape 37"/>
          <p:cNvSpPr/>
          <p:nvPr/>
        </p:nvSpPr>
        <p:spPr>
          <a:xfrm>
            <a:off x="5257800" y="2834640"/>
            <a:ext cx="3200400" cy="20117"/>
          </a:xfrm>
          <a:prstGeom prst="rect">
            <a:avLst/>
          </a:prstGeom>
          <a:solidFill>
            <a:srgbClr val="1E3A5F"/>
          </a:solidFill>
          <a:ln w="12700">
            <a:solidFill>
              <a:srgbClr val="1E3A5F"/>
            </a:solidFill>
            <a:prstDash val="solid"/>
          </a:ln>
        </p:spPr>
      </p:sp>
      <p:sp>
        <p:nvSpPr>
          <p:cNvPr id="41" name="Text 38"/>
          <p:cNvSpPr/>
          <p:nvPr/>
        </p:nvSpPr>
        <p:spPr>
          <a:xfrm>
            <a:off x="5257800" y="2889504"/>
            <a:ext cx="3383280" cy="256032"/>
          </a:xfrm>
          <a:prstGeom prst="rect">
            <a:avLst/>
          </a:prstGeom>
          <a:noFill/>
          <a:ln/>
        </p:spPr>
        <p:txBody>
          <a:bodyPr wrap="square" lIns="0" tIns="0" rIns="0" bIns="0" rtlCol="0" anchor="ctr"/>
          <a:lstStyle/>
          <a:p>
            <a:pPr indent="0" marL="0">
              <a:buNone/>
            </a:pPr>
            <a:r>
              <a:rPr lang="en-US" sz="1150" b="1" dirty="0">
                <a:solidFill>
                  <a:srgbClr val="EF9A9A"/>
                </a:solidFill>
                <a:latin typeface="Calibri" pitchFamily="34" charset="0"/>
                <a:ea typeface="Calibri" pitchFamily="34" charset="-122"/>
                <a:cs typeface="Calibri" pitchFamily="34" charset="-120"/>
              </a:rPr>
              <a:t>prune_neurons()</a:t>
            </a:r>
            <a:endParaRPr lang="en-US" sz="1150" dirty="0"/>
          </a:p>
        </p:txBody>
      </p:sp>
      <p:sp>
        <p:nvSpPr>
          <p:cNvPr id="42" name="Text 39"/>
          <p:cNvSpPr/>
          <p:nvPr/>
        </p:nvSpPr>
        <p:spPr>
          <a:xfrm>
            <a:off x="5257800" y="3182112"/>
            <a:ext cx="3383280" cy="1005840"/>
          </a:xfrm>
          <a:prstGeom prst="rect">
            <a:avLst/>
          </a:prstGeom>
          <a:noFill/>
          <a:ln/>
        </p:spPr>
        <p:txBody>
          <a:bodyPr wrap="square" lIns="50800" tIns="50800" rIns="50800" bIns="50800" rtlCol="0" anchor="t"/>
          <a:lstStyle/>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Zeros W[:, indices] — outgoing weight columns</a:t>
            </a:r>
            <a:endParaRPr lang="en-US" sz="1100" dirty="0"/>
          </a:p>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Removes downstream influence of flagged neurons</a:t>
            </a:r>
            <a:endParaRPr lang="en-US" sz="1100" dirty="0"/>
          </a:p>
          <a:p>
            <a:pPr marL="342900" indent="-342900">
              <a:spcAft>
                <a:spcPts val="200"/>
              </a:spcAft>
              <a:buSzPct val="100000"/>
              <a:buChar char="•"/>
            </a:pPr>
            <a:r>
              <a:rPr lang="en-US" sz="1100" dirty="0">
                <a:solidFill>
                  <a:srgbClr val="E3EBF6"/>
                </a:solidFill>
                <a:latin typeface="Calibri" pitchFamily="34" charset="0"/>
                <a:ea typeface="Calibri" pitchFamily="34" charset="-122"/>
                <a:cs typeface="Calibri" pitchFamily="34" charset="-120"/>
              </a:rPr>
              <a:t>Complementary to prune_suspicious_neurons()</a:t>
            </a:r>
            <a:endParaRPr lang="en-US" sz="1100" dirty="0"/>
          </a:p>
        </p:txBody>
      </p:sp>
      <p:sp>
        <p:nvSpPr>
          <p:cNvPr id="43" name="Text 40"/>
          <p:cNvSpPr/>
          <p:nvPr/>
        </p:nvSpPr>
        <p:spPr>
          <a:xfrm>
            <a:off x="5257800" y="4251960"/>
            <a:ext cx="3383280" cy="237744"/>
          </a:xfrm>
          <a:prstGeom prst="rect">
            <a:avLst/>
          </a:prstGeom>
          <a:noFill/>
          <a:ln/>
        </p:spPr>
        <p:txBody>
          <a:bodyPr wrap="square" lIns="0" tIns="0" rIns="0" bIns="0" rtlCol="0" anchor="ctr"/>
          <a:lstStyle/>
          <a:p>
            <a:pPr indent="0" marL="0">
              <a:buNone/>
            </a:pPr>
            <a:r>
              <a:rPr lang="en-US" sz="1000" i="1" dirty="0">
                <a:solidFill>
                  <a:srgbClr val="7B95B4"/>
                </a:solidFill>
                <a:latin typeface="Calibri" pitchFamily="34" charset="0"/>
                <a:ea typeface="Calibri" pitchFamily="34" charset="-122"/>
                <a:cs typeface="Calibri" pitchFamily="34" charset="-120"/>
              </a:rPr>
              <a:t>Both preserve model structure &amp; parameter count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Fine-tuning &amp; Purification</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Restoring clean accuracy after neuron pruning</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graphicFrame>
        <p:nvGraphicFramePr>
          <p:cNvPr id="6" name="Chart 0" descr=""/>
          <p:cNvGraphicFramePr/>
          <p:nvPr/>
        </p:nvGraphicFramePr>
        <p:xfrm>
          <a:off x="4892040" y="1024128"/>
          <a:ext cx="3858768" cy="29718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320040" y="1024128"/>
            <a:ext cx="4315968" cy="2029968"/>
          </a:xfrm>
          <a:prstGeom prst="roundRect">
            <a:avLst>
              <a:gd name="adj" fmla="val 3153"/>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8" name="Shape 4"/>
          <p:cNvSpPr/>
          <p:nvPr/>
        </p:nvSpPr>
        <p:spPr>
          <a:xfrm>
            <a:off x="320040" y="1024128"/>
            <a:ext cx="50292" cy="2029968"/>
          </a:xfrm>
          <a:prstGeom prst="rect">
            <a:avLst/>
          </a:prstGeom>
          <a:solidFill>
            <a:srgbClr val="00897B"/>
          </a:solidFill>
          <a:ln w="12700">
            <a:solidFill>
              <a:srgbClr val="00897B"/>
            </a:solidFill>
            <a:prstDash val="solid"/>
          </a:ln>
        </p:spPr>
      </p:sp>
      <p:sp>
        <p:nvSpPr>
          <p:cNvPr id="9" name="Text 5"/>
          <p:cNvSpPr/>
          <p:nvPr/>
        </p:nvSpPr>
        <p:spPr>
          <a:xfrm>
            <a:off x="502920" y="1115568"/>
            <a:ext cx="4005072" cy="310896"/>
          </a:xfrm>
          <a:prstGeom prst="rect">
            <a:avLst/>
          </a:prstGeom>
          <a:noFill/>
          <a:ln/>
        </p:spPr>
        <p:txBody>
          <a:bodyPr wrap="square" lIns="0" tIns="0" rIns="0" bIns="0" rtlCol="0" anchor="ctr"/>
          <a:lstStyle/>
          <a:p>
            <a:pPr indent="0" marL="0">
              <a:buNone/>
            </a:pPr>
            <a:r>
              <a:rPr lang="en-US" sz="1300" b="1" dirty="0">
                <a:solidFill>
                  <a:srgbClr val="4DB6AC"/>
                </a:solidFill>
                <a:latin typeface="Calibri" pitchFamily="34" charset="0"/>
                <a:ea typeface="Calibri" pitchFamily="34" charset="-122"/>
                <a:cs typeface="Calibri" pitchFamily="34" charset="-120"/>
              </a:rPr>
              <a:t>fine_tune_model() Function</a:t>
            </a:r>
            <a:endParaRPr lang="en-US" sz="1300" dirty="0"/>
          </a:p>
        </p:txBody>
      </p:sp>
      <p:sp>
        <p:nvSpPr>
          <p:cNvPr id="10" name="Text 6"/>
          <p:cNvSpPr/>
          <p:nvPr/>
        </p:nvSpPr>
        <p:spPr>
          <a:xfrm>
            <a:off x="502920" y="1463040"/>
            <a:ext cx="4005072" cy="1481328"/>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Loss: BCEWithLogitsLoss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Optimizer: Adam  ·  lr = 1e-4  ·  wd = 1e-5</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Training + validation loops per epoch</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Prints: train_loss + val_accuracy per epoch</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GPU-aware: auto-selects CUDA if available</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Configurable epochs and learning rate</a:t>
            </a:r>
            <a:endParaRPr lang="en-US" sz="1200" dirty="0"/>
          </a:p>
        </p:txBody>
      </p:sp>
      <p:sp>
        <p:nvSpPr>
          <p:cNvPr id="11" name="Shape 7"/>
          <p:cNvSpPr/>
          <p:nvPr/>
        </p:nvSpPr>
        <p:spPr>
          <a:xfrm>
            <a:off x="320040" y="3200400"/>
            <a:ext cx="4315968" cy="1664208"/>
          </a:xfrm>
          <a:prstGeom prst="roundRect">
            <a:avLst>
              <a:gd name="adj" fmla="val 3846"/>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Shape 8"/>
          <p:cNvSpPr/>
          <p:nvPr/>
        </p:nvSpPr>
        <p:spPr>
          <a:xfrm>
            <a:off x="320040" y="3200400"/>
            <a:ext cx="50292" cy="1664208"/>
          </a:xfrm>
          <a:prstGeom prst="rect">
            <a:avLst/>
          </a:prstGeom>
          <a:solidFill>
            <a:srgbClr val="42A5F5"/>
          </a:solidFill>
          <a:ln w="12700">
            <a:solidFill>
              <a:srgbClr val="42A5F5"/>
            </a:solidFill>
            <a:prstDash val="solid"/>
          </a:ln>
        </p:spPr>
      </p:sp>
      <p:sp>
        <p:nvSpPr>
          <p:cNvPr id="13" name="Text 9"/>
          <p:cNvSpPr/>
          <p:nvPr/>
        </p:nvSpPr>
        <p:spPr>
          <a:xfrm>
            <a:off x="502920" y="3291840"/>
            <a:ext cx="4005072" cy="310896"/>
          </a:xfrm>
          <a:prstGeom prst="rect">
            <a:avLst/>
          </a:prstGeom>
          <a:noFill/>
          <a:ln/>
        </p:spPr>
        <p:txBody>
          <a:bodyPr wrap="square" lIns="0" tIns="0" rIns="0" bIns="0" rtlCol="0" anchor="ctr"/>
          <a:lstStyle/>
          <a:p>
            <a:pPr indent="0" marL="0">
              <a:buNone/>
            </a:pPr>
            <a:r>
              <a:rPr lang="en-US" sz="1300" b="1" dirty="0">
                <a:solidFill>
                  <a:srgbClr val="42A5F5"/>
                </a:solidFill>
                <a:latin typeface="Calibri" pitchFamily="34" charset="0"/>
                <a:ea typeface="Calibri" pitchFamily="34" charset="-122"/>
                <a:cs typeface="Calibri" pitchFamily="34" charset="-120"/>
              </a:rPr>
              <a:t>Why Fine-tuning Works</a:t>
            </a:r>
            <a:endParaRPr lang="en-US" sz="1300" dirty="0"/>
          </a:p>
        </p:txBody>
      </p:sp>
      <p:sp>
        <p:nvSpPr>
          <p:cNvPr id="14" name="Text 10"/>
          <p:cNvSpPr/>
          <p:nvPr/>
        </p:nvSpPr>
        <p:spPr>
          <a:xfrm>
            <a:off x="502920" y="3639312"/>
            <a:ext cx="4005072" cy="1152144"/>
          </a:xfrm>
          <a:prstGeom prst="rect">
            <a:avLst/>
          </a:prstGeom>
          <a:noFill/>
          <a:ln/>
        </p:spPr>
        <p:txBody>
          <a:bodyPr wrap="square" lIns="50800" tIns="50800" rIns="50800" bIns="50800" rtlCol="0" anchor="t"/>
          <a:lstStyle/>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Pruning removes backdoor neurons but may hurt CA slightly</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Short fine-tune on clean data re-weights surviving neurons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Remaining healthy neurons compensate for pruned ones</a:t>
            </a:r>
            <a:endParaRPr lang="en-US" sz="1200" dirty="0"/>
          </a:p>
          <a:p>
            <a:pPr marL="342900" indent="-342900">
              <a:spcAft>
                <a:spcPts val="200"/>
              </a:spcAft>
              <a:buSzPct val="100000"/>
              <a:buChar char="•"/>
            </a:pPr>
            <a:r>
              <a:rPr lang="en-US" sz="1200" dirty="0">
                <a:solidFill>
                  <a:srgbClr val="E3EBF6"/>
                </a:solidFill>
                <a:latin typeface="Calibri" pitchFamily="34" charset="0"/>
                <a:ea typeface="Calibri" pitchFamily="34" charset="-122"/>
                <a:cs typeface="Calibri" pitchFamily="34" charset="-120"/>
              </a:rPr>
              <a:t>10 epochs sufficient — no full retraining from scratch</a:t>
            </a:r>
            <a:endParaRPr lang="en-US" sz="1200" dirty="0"/>
          </a:p>
        </p:txBody>
      </p:sp>
      <p:sp>
        <p:nvSpPr>
          <p:cNvPr id="15" name="Shape 11"/>
          <p:cNvSpPr/>
          <p:nvPr/>
        </p:nvSpPr>
        <p:spPr>
          <a:xfrm>
            <a:off x="320040" y="4919472"/>
            <a:ext cx="2651760" cy="475488"/>
          </a:xfrm>
          <a:prstGeom prst="roundRect">
            <a:avLst>
              <a:gd name="adj" fmla="val 1346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6" name="Text 12"/>
          <p:cNvSpPr/>
          <p:nvPr/>
        </p:nvSpPr>
        <p:spPr>
          <a:xfrm>
            <a:off x="320040" y="4919472"/>
            <a:ext cx="2651760" cy="274320"/>
          </a:xfrm>
          <a:prstGeom prst="rect">
            <a:avLst/>
          </a:prstGeom>
          <a:noFill/>
          <a:ln/>
        </p:spPr>
        <p:txBody>
          <a:bodyPr wrap="square" lIns="0" tIns="0" rIns="0" bIns="0" rtlCol="0" anchor="ctr"/>
          <a:lstStyle/>
          <a:p>
            <a:pPr algn="ctr" indent="0" marL="0">
              <a:buNone/>
            </a:pPr>
            <a:r>
              <a:rPr lang="en-US" sz="1600" b="1" dirty="0">
                <a:solidFill>
                  <a:srgbClr val="00897B"/>
                </a:solidFill>
                <a:latin typeface="Calibri" pitchFamily="34" charset="0"/>
                <a:ea typeface="Calibri" pitchFamily="34" charset="-122"/>
                <a:cs typeface="Calibri" pitchFamily="34" charset="-120"/>
              </a:rPr>
              <a:t>&lt; 2%</a:t>
            </a:r>
            <a:endParaRPr lang="en-US" sz="1600" dirty="0"/>
          </a:p>
        </p:txBody>
      </p:sp>
      <p:sp>
        <p:nvSpPr>
          <p:cNvPr id="17" name="Text 13"/>
          <p:cNvSpPr/>
          <p:nvPr/>
        </p:nvSpPr>
        <p:spPr>
          <a:xfrm>
            <a:off x="320040" y="5175504"/>
            <a:ext cx="2651760" cy="201168"/>
          </a:xfrm>
          <a:prstGeom prst="rect">
            <a:avLst/>
          </a:prstGeom>
          <a:noFill/>
          <a:ln/>
        </p:spPr>
        <p:txBody>
          <a:bodyPr wrap="square" lIns="0" tIns="0" rIns="0" bIns="0" rtlCol="0" anchor="ctr"/>
          <a:lstStyle/>
          <a:p>
            <a:pPr algn="ctr" indent="0" marL="0">
              <a:buNone/>
            </a:pPr>
            <a:r>
              <a:rPr lang="en-US" sz="900" dirty="0">
                <a:solidFill>
                  <a:srgbClr val="7B95B4"/>
                </a:solidFill>
                <a:latin typeface="Calibri" pitchFamily="34" charset="0"/>
                <a:ea typeface="Calibri" pitchFamily="34" charset="-122"/>
                <a:cs typeface="Calibri" pitchFamily="34" charset="-120"/>
              </a:rPr>
              <a:t>CA drop after purification</a:t>
            </a:r>
            <a:endParaRPr lang="en-US" sz="900" dirty="0"/>
          </a:p>
        </p:txBody>
      </p:sp>
      <p:sp>
        <p:nvSpPr>
          <p:cNvPr id="18" name="Shape 14"/>
          <p:cNvSpPr/>
          <p:nvPr/>
        </p:nvSpPr>
        <p:spPr>
          <a:xfrm>
            <a:off x="3154680" y="4919472"/>
            <a:ext cx="2651760" cy="475488"/>
          </a:xfrm>
          <a:prstGeom prst="roundRect">
            <a:avLst>
              <a:gd name="adj" fmla="val 1346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9" name="Text 15"/>
          <p:cNvSpPr/>
          <p:nvPr/>
        </p:nvSpPr>
        <p:spPr>
          <a:xfrm>
            <a:off x="3154680" y="4919472"/>
            <a:ext cx="2651760" cy="274320"/>
          </a:xfrm>
          <a:prstGeom prst="rect">
            <a:avLst/>
          </a:prstGeom>
          <a:noFill/>
          <a:ln/>
        </p:spPr>
        <p:txBody>
          <a:bodyPr wrap="square" lIns="0" tIns="0" rIns="0" bIns="0" rtlCol="0" anchor="ctr"/>
          <a:lstStyle/>
          <a:p>
            <a:pPr algn="ctr" indent="0" marL="0">
              <a:buNone/>
            </a:pPr>
            <a:r>
              <a:rPr lang="en-US" sz="1600" b="1" dirty="0">
                <a:solidFill>
                  <a:srgbClr val="C62828"/>
                </a:solidFill>
                <a:latin typeface="Calibri" pitchFamily="34" charset="0"/>
                <a:ea typeface="Calibri" pitchFamily="34" charset="-122"/>
                <a:cs typeface="Calibri" pitchFamily="34" charset="-120"/>
              </a:rPr>
              <a:t>87→11%</a:t>
            </a:r>
            <a:endParaRPr lang="en-US" sz="1600" dirty="0"/>
          </a:p>
        </p:txBody>
      </p:sp>
      <p:sp>
        <p:nvSpPr>
          <p:cNvPr id="20" name="Text 16"/>
          <p:cNvSpPr/>
          <p:nvPr/>
        </p:nvSpPr>
        <p:spPr>
          <a:xfrm>
            <a:off x="3154680" y="5175504"/>
            <a:ext cx="2651760" cy="201168"/>
          </a:xfrm>
          <a:prstGeom prst="rect">
            <a:avLst/>
          </a:prstGeom>
          <a:noFill/>
          <a:ln/>
        </p:spPr>
        <p:txBody>
          <a:bodyPr wrap="square" lIns="0" tIns="0" rIns="0" bIns="0" rtlCol="0" anchor="ctr"/>
          <a:lstStyle/>
          <a:p>
            <a:pPr algn="ctr" indent="0" marL="0">
              <a:buNone/>
            </a:pPr>
            <a:r>
              <a:rPr lang="en-US" sz="900" dirty="0">
                <a:solidFill>
                  <a:srgbClr val="7B95B4"/>
                </a:solidFill>
                <a:latin typeface="Calibri" pitchFamily="34" charset="0"/>
                <a:ea typeface="Calibri" pitchFamily="34" charset="-122"/>
                <a:cs typeface="Calibri" pitchFamily="34" charset="-120"/>
              </a:rPr>
              <a:t>ASR reduction</a:t>
            </a:r>
            <a:endParaRPr lang="en-US" sz="900" dirty="0"/>
          </a:p>
        </p:txBody>
      </p:sp>
      <p:sp>
        <p:nvSpPr>
          <p:cNvPr id="21" name="Shape 17"/>
          <p:cNvSpPr/>
          <p:nvPr/>
        </p:nvSpPr>
        <p:spPr>
          <a:xfrm>
            <a:off x="5989320" y="4919472"/>
            <a:ext cx="2651760" cy="475488"/>
          </a:xfrm>
          <a:prstGeom prst="roundRect">
            <a:avLst>
              <a:gd name="adj" fmla="val 1346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22" name="Text 18"/>
          <p:cNvSpPr/>
          <p:nvPr/>
        </p:nvSpPr>
        <p:spPr>
          <a:xfrm>
            <a:off x="5989320" y="4919472"/>
            <a:ext cx="2651760" cy="274320"/>
          </a:xfrm>
          <a:prstGeom prst="rect">
            <a:avLst/>
          </a:prstGeom>
          <a:noFill/>
          <a:ln/>
        </p:spPr>
        <p:txBody>
          <a:bodyPr wrap="square" lIns="0" tIns="0" rIns="0" bIns="0" rtlCol="0" anchor="ctr"/>
          <a:lstStyle/>
          <a:p>
            <a:pPr algn="ctr" indent="0" marL="0">
              <a:buNone/>
            </a:pPr>
            <a:r>
              <a:rPr lang="en-US" sz="1600" b="1" dirty="0">
                <a:solidFill>
                  <a:srgbClr val="42A5F5"/>
                </a:solidFill>
                <a:latin typeface="Calibri" pitchFamily="34" charset="0"/>
                <a:ea typeface="Calibri" pitchFamily="34" charset="-122"/>
                <a:cs typeface="Calibri" pitchFamily="34" charset="-120"/>
              </a:rPr>
              <a:t>10 epochs</a:t>
            </a:r>
            <a:endParaRPr lang="en-US" sz="1600" dirty="0"/>
          </a:p>
        </p:txBody>
      </p:sp>
      <p:sp>
        <p:nvSpPr>
          <p:cNvPr id="23" name="Text 19"/>
          <p:cNvSpPr/>
          <p:nvPr/>
        </p:nvSpPr>
        <p:spPr>
          <a:xfrm>
            <a:off x="5989320" y="5175504"/>
            <a:ext cx="2651760" cy="201168"/>
          </a:xfrm>
          <a:prstGeom prst="rect">
            <a:avLst/>
          </a:prstGeom>
          <a:noFill/>
          <a:ln/>
        </p:spPr>
        <p:txBody>
          <a:bodyPr wrap="square" lIns="0" tIns="0" rIns="0" bIns="0" rtlCol="0" anchor="ctr"/>
          <a:lstStyle/>
          <a:p>
            <a:pPr algn="ctr" indent="0" marL="0">
              <a:buNone/>
            </a:pPr>
            <a:r>
              <a:rPr lang="en-US" sz="900" dirty="0">
                <a:solidFill>
                  <a:srgbClr val="7B95B4"/>
                </a:solidFill>
                <a:latin typeface="Calibri" pitchFamily="34" charset="0"/>
                <a:ea typeface="Calibri" pitchFamily="34" charset="-122"/>
                <a:cs typeface="Calibri" pitchFamily="34" charset="-120"/>
              </a:rPr>
              <a:t>Fine-tuning duration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Experimental Results</a:t>
            </a:r>
            <a:endParaRPr lang="en-US" sz="2400" dirty="0"/>
          </a:p>
        </p:txBody>
      </p:sp>
      <p:sp>
        <p:nvSpPr>
          <p:cNvPr id="3" name="Shape 1"/>
          <p:cNvSpPr/>
          <p:nvPr/>
        </p:nvSpPr>
        <p:spPr>
          <a:xfrm>
            <a:off x="411480" y="749808"/>
            <a:ext cx="8321040" cy="20117"/>
          </a:xfrm>
          <a:prstGeom prst="rect">
            <a:avLst/>
          </a:prstGeom>
          <a:solidFill>
            <a:srgbClr val="1565C0"/>
          </a:solidFill>
          <a:ln w="12700">
            <a:solidFill>
              <a:srgbClr val="1565C0"/>
            </a:solidFill>
            <a:prstDash val="solid"/>
          </a:ln>
        </p:spPr>
      </p:sp>
      <p:sp>
        <p:nvSpPr>
          <p:cNvPr id="4" name="Text 2"/>
          <p:cNvSpPr/>
          <p:nvPr/>
        </p:nvSpPr>
        <p:spPr>
          <a:xfrm>
            <a:off x="411480" y="768096"/>
            <a:ext cx="8321040" cy="237744"/>
          </a:xfrm>
          <a:prstGeom prst="rect">
            <a:avLst/>
          </a:prstGeom>
          <a:noFill/>
          <a:ln/>
        </p:spPr>
        <p:txBody>
          <a:bodyPr wrap="square" lIns="0" tIns="0" rIns="0" bIns="0" rtlCol="0" anchor="ctr"/>
          <a:lstStyle/>
          <a:p>
            <a:pPr algn="l" indent="0" marL="0">
              <a:buNone/>
            </a:pPr>
            <a:r>
              <a:rPr lang="en-US" sz="1050" i="1" dirty="0">
                <a:solidFill>
                  <a:srgbClr val="7B95B4"/>
                </a:solidFill>
                <a:latin typeface="Calibri" pitchFamily="34" charset="0"/>
                <a:ea typeface="Calibri" pitchFamily="34" charset="-122"/>
                <a:cs typeface="Calibri" pitchFamily="34" charset="-120"/>
              </a:rPr>
              <a:t>Poisoned vs Purified model across all evaluation metrics</a:t>
            </a:r>
            <a:endParaRPr lang="en-US" sz="1050" dirty="0"/>
          </a:p>
        </p:txBody>
      </p:sp>
      <p:pic>
        <p:nvPicPr>
          <p:cNvPr id="5" name="Image 0" descr="preencoded.png">    </p:cNvPr>
          <p:cNvPicPr>
            <a:picLocks noChangeAspect="1"/>
          </p:cNvPicPr>
          <p:nvPr/>
        </p:nvPicPr>
        <p:blipFill>
          <a:blip r:embed="rId1"/>
          <a:stretch>
            <a:fillRect/>
          </a:stretch>
        </p:blipFill>
        <p:spPr>
          <a:xfrm>
            <a:off x="8321040" y="228600"/>
            <a:ext cx="685800" cy="685800"/>
          </a:xfrm>
          <a:prstGeom prst="rect">
            <a:avLst/>
          </a:prstGeom>
        </p:spPr>
      </p:pic>
      <p:graphicFrame>
        <p:nvGraphicFramePr>
          <p:cNvPr id="6" name="Chart 0" descr=""/>
          <p:cNvGraphicFramePr/>
          <p:nvPr/>
        </p:nvGraphicFramePr>
        <p:xfrm>
          <a:off x="320040" y="1024128"/>
          <a:ext cx="8503920" cy="3090672"/>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320040" y="4297680"/>
            <a:ext cx="2011680" cy="658368"/>
          </a:xfrm>
          <a:prstGeom prst="roundRect">
            <a:avLst>
              <a:gd name="adj" fmla="val 972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8" name="Text 4"/>
          <p:cNvSpPr/>
          <p:nvPr/>
        </p:nvSpPr>
        <p:spPr>
          <a:xfrm>
            <a:off x="320040" y="4315968"/>
            <a:ext cx="2011680" cy="347472"/>
          </a:xfrm>
          <a:prstGeom prst="rect">
            <a:avLst/>
          </a:prstGeom>
          <a:noFill/>
          <a:ln/>
        </p:spPr>
        <p:txBody>
          <a:bodyPr wrap="square" lIns="0" tIns="0" rIns="0" bIns="0" rtlCol="0" anchor="ctr"/>
          <a:lstStyle/>
          <a:p>
            <a:pPr algn="ctr" indent="0" marL="0">
              <a:buNone/>
            </a:pPr>
            <a:r>
              <a:rPr lang="en-US" sz="2000" b="1" dirty="0">
                <a:solidFill>
                  <a:srgbClr val="00897B"/>
                </a:solidFill>
                <a:latin typeface="Calibri" pitchFamily="34" charset="0"/>
                <a:ea typeface="Calibri" pitchFamily="34" charset="-122"/>
                <a:cs typeface="Calibri" pitchFamily="34" charset="-120"/>
              </a:rPr>
              <a:t>&lt; 2%</a:t>
            </a:r>
            <a:endParaRPr lang="en-US" sz="2000" dirty="0"/>
          </a:p>
        </p:txBody>
      </p:sp>
      <p:sp>
        <p:nvSpPr>
          <p:cNvPr id="9" name="Text 5"/>
          <p:cNvSpPr/>
          <p:nvPr/>
        </p:nvSpPr>
        <p:spPr>
          <a:xfrm>
            <a:off x="320040" y="4663440"/>
            <a:ext cx="2011680" cy="256032"/>
          </a:xfrm>
          <a:prstGeom prst="rect">
            <a:avLst/>
          </a:prstGeom>
          <a:noFill/>
          <a:ln/>
        </p:spPr>
        <p:txBody>
          <a:bodyPr wrap="square" lIns="0" tIns="0" rIns="0" bIns="0" rtlCol="0" anchor="ctr"/>
          <a:lstStyle/>
          <a:p>
            <a:pPr algn="ctr" indent="0" marL="0">
              <a:buNone/>
            </a:pPr>
            <a:r>
              <a:rPr lang="en-US" sz="950" dirty="0">
                <a:solidFill>
                  <a:srgbClr val="7B95B4"/>
                </a:solidFill>
                <a:latin typeface="Calibri" pitchFamily="34" charset="0"/>
                <a:ea typeface="Calibri" pitchFamily="34" charset="-122"/>
                <a:cs typeface="Calibri" pitchFamily="34" charset="-120"/>
              </a:rPr>
              <a:t>Clean Accuracy drop</a:t>
            </a:r>
            <a:endParaRPr lang="en-US" sz="950" dirty="0"/>
          </a:p>
        </p:txBody>
      </p:sp>
      <p:sp>
        <p:nvSpPr>
          <p:cNvPr id="10" name="Shape 6"/>
          <p:cNvSpPr/>
          <p:nvPr/>
        </p:nvSpPr>
        <p:spPr>
          <a:xfrm>
            <a:off x="2514600" y="4297680"/>
            <a:ext cx="2011680" cy="658368"/>
          </a:xfrm>
          <a:prstGeom prst="roundRect">
            <a:avLst>
              <a:gd name="adj" fmla="val 972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1" name="Text 7"/>
          <p:cNvSpPr/>
          <p:nvPr/>
        </p:nvSpPr>
        <p:spPr>
          <a:xfrm>
            <a:off x="2514600" y="4315968"/>
            <a:ext cx="2011680" cy="347472"/>
          </a:xfrm>
          <a:prstGeom prst="rect">
            <a:avLst/>
          </a:prstGeom>
          <a:noFill/>
          <a:ln/>
        </p:spPr>
        <p:txBody>
          <a:bodyPr wrap="square" lIns="0" tIns="0" rIns="0" bIns="0" rtlCol="0" anchor="ctr"/>
          <a:lstStyle/>
          <a:p>
            <a:pPr algn="ctr" indent="0" marL="0">
              <a:buNone/>
            </a:pPr>
            <a:r>
              <a:rPr lang="en-US" sz="2000" b="1" dirty="0">
                <a:solidFill>
                  <a:srgbClr val="C62828"/>
                </a:solidFill>
                <a:latin typeface="Calibri" pitchFamily="34" charset="0"/>
                <a:ea typeface="Calibri" pitchFamily="34" charset="-122"/>
                <a:cs typeface="Calibri" pitchFamily="34" charset="-120"/>
              </a:rPr>
              <a:t>87.4%</a:t>
            </a:r>
            <a:endParaRPr lang="en-US" sz="2000" dirty="0"/>
          </a:p>
        </p:txBody>
      </p:sp>
      <p:sp>
        <p:nvSpPr>
          <p:cNvPr id="12" name="Text 8"/>
          <p:cNvSpPr/>
          <p:nvPr/>
        </p:nvSpPr>
        <p:spPr>
          <a:xfrm>
            <a:off x="2514600" y="4663440"/>
            <a:ext cx="2011680" cy="256032"/>
          </a:xfrm>
          <a:prstGeom prst="rect">
            <a:avLst/>
          </a:prstGeom>
          <a:noFill/>
          <a:ln/>
        </p:spPr>
        <p:txBody>
          <a:bodyPr wrap="square" lIns="0" tIns="0" rIns="0" bIns="0" rtlCol="0" anchor="ctr"/>
          <a:lstStyle/>
          <a:p>
            <a:pPr algn="ctr" indent="0" marL="0">
              <a:buNone/>
            </a:pPr>
            <a:r>
              <a:rPr lang="en-US" sz="950" dirty="0">
                <a:solidFill>
                  <a:srgbClr val="7B95B4"/>
                </a:solidFill>
                <a:latin typeface="Calibri" pitchFamily="34" charset="0"/>
                <a:ea typeface="Calibri" pitchFamily="34" charset="-122"/>
                <a:cs typeface="Calibri" pitchFamily="34" charset="-120"/>
              </a:rPr>
              <a:t>Poisoned model ASR</a:t>
            </a:r>
            <a:endParaRPr lang="en-US" sz="950" dirty="0"/>
          </a:p>
        </p:txBody>
      </p:sp>
      <p:sp>
        <p:nvSpPr>
          <p:cNvPr id="13" name="Shape 9"/>
          <p:cNvSpPr/>
          <p:nvPr/>
        </p:nvSpPr>
        <p:spPr>
          <a:xfrm>
            <a:off x="4709160" y="4297680"/>
            <a:ext cx="2011680" cy="658368"/>
          </a:xfrm>
          <a:prstGeom prst="roundRect">
            <a:avLst>
              <a:gd name="adj" fmla="val 972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4" name="Text 10"/>
          <p:cNvSpPr/>
          <p:nvPr/>
        </p:nvSpPr>
        <p:spPr>
          <a:xfrm>
            <a:off x="4709160" y="4315968"/>
            <a:ext cx="2011680" cy="347472"/>
          </a:xfrm>
          <a:prstGeom prst="rect">
            <a:avLst/>
          </a:prstGeom>
          <a:noFill/>
          <a:ln/>
        </p:spPr>
        <p:txBody>
          <a:bodyPr wrap="square" lIns="0" tIns="0" rIns="0" bIns="0" rtlCol="0" anchor="ctr"/>
          <a:lstStyle/>
          <a:p>
            <a:pPr algn="ctr" indent="0" marL="0">
              <a:buNone/>
            </a:pPr>
            <a:r>
              <a:rPr lang="en-US" sz="2000" b="1" dirty="0">
                <a:solidFill>
                  <a:srgbClr val="4DB6AC"/>
                </a:solidFill>
                <a:latin typeface="Calibri" pitchFamily="34" charset="0"/>
                <a:ea typeface="Calibri" pitchFamily="34" charset="-122"/>
                <a:cs typeface="Calibri" pitchFamily="34" charset="-120"/>
              </a:rPr>
              <a:t>11.2%</a:t>
            </a:r>
            <a:endParaRPr lang="en-US" sz="2000" dirty="0"/>
          </a:p>
        </p:txBody>
      </p:sp>
      <p:sp>
        <p:nvSpPr>
          <p:cNvPr id="15" name="Text 11"/>
          <p:cNvSpPr/>
          <p:nvPr/>
        </p:nvSpPr>
        <p:spPr>
          <a:xfrm>
            <a:off x="4709160" y="4663440"/>
            <a:ext cx="2011680" cy="256032"/>
          </a:xfrm>
          <a:prstGeom prst="rect">
            <a:avLst/>
          </a:prstGeom>
          <a:noFill/>
          <a:ln/>
        </p:spPr>
        <p:txBody>
          <a:bodyPr wrap="square" lIns="0" tIns="0" rIns="0" bIns="0" rtlCol="0" anchor="ctr"/>
          <a:lstStyle/>
          <a:p>
            <a:pPr algn="ctr" indent="0" marL="0">
              <a:buNone/>
            </a:pPr>
            <a:r>
              <a:rPr lang="en-US" sz="950" dirty="0">
                <a:solidFill>
                  <a:srgbClr val="7B95B4"/>
                </a:solidFill>
                <a:latin typeface="Calibri" pitchFamily="34" charset="0"/>
                <a:ea typeface="Calibri" pitchFamily="34" charset="-122"/>
                <a:cs typeface="Calibri" pitchFamily="34" charset="-120"/>
              </a:rPr>
              <a:t>Purified model ASR</a:t>
            </a:r>
            <a:endParaRPr lang="en-US" sz="950" dirty="0"/>
          </a:p>
        </p:txBody>
      </p:sp>
      <p:sp>
        <p:nvSpPr>
          <p:cNvPr id="16" name="Shape 12"/>
          <p:cNvSpPr/>
          <p:nvPr/>
        </p:nvSpPr>
        <p:spPr>
          <a:xfrm>
            <a:off x="6903720" y="4297680"/>
            <a:ext cx="2011680" cy="658368"/>
          </a:xfrm>
          <a:prstGeom prst="roundRect">
            <a:avLst>
              <a:gd name="adj" fmla="val 9722"/>
            </a:avLst>
          </a:prstGeom>
          <a:solidFill>
            <a:srgbClr val="0A2744"/>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7" name="Text 13"/>
          <p:cNvSpPr/>
          <p:nvPr/>
        </p:nvSpPr>
        <p:spPr>
          <a:xfrm>
            <a:off x="6903720" y="4315968"/>
            <a:ext cx="2011680" cy="347472"/>
          </a:xfrm>
          <a:prstGeom prst="rect">
            <a:avLst/>
          </a:prstGeom>
          <a:noFill/>
          <a:ln/>
        </p:spPr>
        <p:txBody>
          <a:bodyPr wrap="square" lIns="0" tIns="0" rIns="0" bIns="0" rtlCol="0" anchor="ctr"/>
          <a:lstStyle/>
          <a:p>
            <a:pPr algn="ctr" indent="0" marL="0">
              <a:buNone/>
            </a:pPr>
            <a:r>
              <a:rPr lang="en-US" sz="2000" b="1" dirty="0">
                <a:solidFill>
                  <a:srgbClr val="42A5F5"/>
                </a:solidFill>
                <a:latin typeface="Calibri" pitchFamily="34" charset="0"/>
                <a:ea typeface="Calibri" pitchFamily="34" charset="-122"/>
                <a:cs typeface="Calibri" pitchFamily="34" charset="-120"/>
              </a:rPr>
              <a:t>&gt; 75%</a:t>
            </a:r>
            <a:endParaRPr lang="en-US" sz="2000" dirty="0"/>
          </a:p>
        </p:txBody>
      </p:sp>
      <p:sp>
        <p:nvSpPr>
          <p:cNvPr id="18" name="Text 14"/>
          <p:cNvSpPr/>
          <p:nvPr/>
        </p:nvSpPr>
        <p:spPr>
          <a:xfrm>
            <a:off x="6903720" y="4663440"/>
            <a:ext cx="2011680" cy="256032"/>
          </a:xfrm>
          <a:prstGeom prst="rect">
            <a:avLst/>
          </a:prstGeom>
          <a:noFill/>
          <a:ln/>
        </p:spPr>
        <p:txBody>
          <a:bodyPr wrap="square" lIns="0" tIns="0" rIns="0" bIns="0" rtlCol="0" anchor="ctr"/>
          <a:lstStyle/>
          <a:p>
            <a:pPr algn="ctr" indent="0" marL="0">
              <a:buNone/>
            </a:pPr>
            <a:r>
              <a:rPr lang="en-US" sz="950" dirty="0">
                <a:solidFill>
                  <a:srgbClr val="7B95B4"/>
                </a:solidFill>
                <a:latin typeface="Calibri" pitchFamily="34" charset="0"/>
                <a:ea typeface="Calibri" pitchFamily="34" charset="-122"/>
                <a:cs typeface="Calibri" pitchFamily="34" charset="-120"/>
              </a:rPr>
              <a:t>ASR reduction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897B"/>
          </a:solidFill>
          <a:ln w="12700">
            <a:solidFill>
              <a:srgbClr val="00897B"/>
            </a:solidFill>
            <a:prstDash val="solid"/>
          </a:ln>
        </p:spPr>
      </p:sp>
      <p:sp>
        <p:nvSpPr>
          <p:cNvPr id="3" name="Shape 1"/>
          <p:cNvSpPr/>
          <p:nvPr/>
        </p:nvSpPr>
        <p:spPr>
          <a:xfrm>
            <a:off x="0" y="4389120"/>
            <a:ext cx="9144000" cy="754380"/>
          </a:xfrm>
          <a:prstGeom prst="rect">
            <a:avLst/>
          </a:prstGeom>
          <a:solidFill>
            <a:srgbClr val="091829"/>
          </a:solidFill>
          <a:ln w="12700">
            <a:solidFill>
              <a:srgbClr val="091829"/>
            </a:solidFill>
            <a:prstDash val="solid"/>
          </a:ln>
        </p:spPr>
      </p:sp>
      <p:pic>
        <p:nvPicPr>
          <p:cNvPr id="4" name="Image 0" descr="preencoded.png">    </p:cNvPr>
          <p:cNvPicPr>
            <a:picLocks noChangeAspect="1"/>
          </p:cNvPicPr>
          <p:nvPr/>
        </p:nvPicPr>
        <p:blipFill>
          <a:blip r:embed="rId1"/>
          <a:stretch>
            <a:fillRect/>
          </a:stretch>
        </p:blipFill>
        <p:spPr>
          <a:xfrm>
            <a:off x="8229600" y="228600"/>
            <a:ext cx="777240" cy="777240"/>
          </a:xfrm>
          <a:prstGeom prst="rect">
            <a:avLst/>
          </a:prstGeom>
        </p:spPr>
      </p:pic>
      <p:sp>
        <p:nvSpPr>
          <p:cNvPr id="5" name="Text 2"/>
          <p:cNvSpPr/>
          <p:nvPr/>
        </p:nvSpPr>
        <p:spPr>
          <a:xfrm>
            <a:off x="502920" y="256032"/>
            <a:ext cx="7680960" cy="47548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Conclusion &amp; Future Scope</a:t>
            </a:r>
            <a:endParaRPr lang="en-US" sz="2400" dirty="0"/>
          </a:p>
        </p:txBody>
      </p:sp>
      <p:sp>
        <p:nvSpPr>
          <p:cNvPr id="6" name="Shape 3"/>
          <p:cNvSpPr/>
          <p:nvPr/>
        </p:nvSpPr>
        <p:spPr>
          <a:xfrm>
            <a:off x="502920" y="749808"/>
            <a:ext cx="8321040" cy="20117"/>
          </a:xfrm>
          <a:prstGeom prst="rect">
            <a:avLst/>
          </a:prstGeom>
          <a:solidFill>
            <a:srgbClr val="00897B"/>
          </a:solidFill>
          <a:ln w="12700">
            <a:solidFill>
              <a:srgbClr val="00897B"/>
            </a:solidFill>
            <a:prstDash val="solid"/>
          </a:ln>
        </p:spPr>
      </p:sp>
      <p:sp>
        <p:nvSpPr>
          <p:cNvPr id="7" name="Shape 4"/>
          <p:cNvSpPr/>
          <p:nvPr/>
        </p:nvSpPr>
        <p:spPr>
          <a:xfrm>
            <a:off x="411480" y="960120"/>
            <a:ext cx="3977640" cy="3200400"/>
          </a:xfrm>
          <a:prstGeom prst="roundRect">
            <a:avLst>
              <a:gd name="adj" fmla="val 2000"/>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8" name="Shape 5"/>
          <p:cNvSpPr/>
          <p:nvPr/>
        </p:nvSpPr>
        <p:spPr>
          <a:xfrm>
            <a:off x="411480" y="960120"/>
            <a:ext cx="50292" cy="3200400"/>
          </a:xfrm>
          <a:prstGeom prst="rect">
            <a:avLst/>
          </a:prstGeom>
          <a:solidFill>
            <a:srgbClr val="00897B"/>
          </a:solidFill>
          <a:ln w="12700">
            <a:solidFill>
              <a:srgbClr val="00897B"/>
            </a:solidFill>
            <a:prstDash val="solid"/>
          </a:ln>
        </p:spPr>
      </p:sp>
      <p:sp>
        <p:nvSpPr>
          <p:cNvPr id="9" name="Text 6"/>
          <p:cNvSpPr/>
          <p:nvPr/>
        </p:nvSpPr>
        <p:spPr>
          <a:xfrm>
            <a:off x="594360" y="1051560"/>
            <a:ext cx="3657600" cy="329184"/>
          </a:xfrm>
          <a:prstGeom prst="rect">
            <a:avLst/>
          </a:prstGeom>
          <a:noFill/>
          <a:ln/>
        </p:spPr>
        <p:txBody>
          <a:bodyPr wrap="square" lIns="0" tIns="0" rIns="0" bIns="0" rtlCol="0" anchor="ctr"/>
          <a:lstStyle/>
          <a:p>
            <a:pPr indent="0" marL="0">
              <a:buNone/>
            </a:pPr>
            <a:r>
              <a:rPr lang="en-US" sz="1300" b="1" dirty="0">
                <a:solidFill>
                  <a:srgbClr val="4DB6AC"/>
                </a:solidFill>
                <a:latin typeface="Calibri" pitchFamily="34" charset="0"/>
                <a:ea typeface="Calibri" pitchFamily="34" charset="-122"/>
                <a:cs typeface="Calibri" pitchFamily="34" charset="-120"/>
              </a:rPr>
              <a:t>Key Contributions</a:t>
            </a:r>
            <a:endParaRPr lang="en-US" sz="1300" dirty="0"/>
          </a:p>
        </p:txBody>
      </p:sp>
      <p:sp>
        <p:nvSpPr>
          <p:cNvPr id="10" name="Text 7"/>
          <p:cNvSpPr/>
          <p:nvPr/>
        </p:nvSpPr>
        <p:spPr>
          <a:xfrm>
            <a:off x="594360" y="1417320"/>
            <a:ext cx="3657600" cy="2606040"/>
          </a:xfrm>
          <a:prstGeom prst="rect">
            <a:avLst/>
          </a:prstGeom>
          <a:noFill/>
          <a:ln/>
        </p:spPr>
        <p:txBody>
          <a:bodyPr wrap="square" lIns="50800" tIns="50800" rIns="50800" bIns="50800" rtlCol="0" anchor="t"/>
          <a:lstStyle/>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End-to-end PBP pipeline implemented in PyTorch</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Activation-based suspicious neuron detection</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Dual pruning strategy — weights and biases zeroed</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Post-pruning fine-tuning with minimal clean data</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ASR reduced by &gt; 75%  with &lt; 2% accuracy loss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Full evaluation suite: CA, Precision, Recall, F1, ASR</a:t>
            </a:r>
            <a:endParaRPr lang="en-US" sz="1250" dirty="0"/>
          </a:p>
        </p:txBody>
      </p:sp>
      <p:sp>
        <p:nvSpPr>
          <p:cNvPr id="11" name="Shape 8"/>
          <p:cNvSpPr/>
          <p:nvPr/>
        </p:nvSpPr>
        <p:spPr>
          <a:xfrm>
            <a:off x="4617720" y="960120"/>
            <a:ext cx="4114800" cy="3200400"/>
          </a:xfrm>
          <a:prstGeom prst="roundRect">
            <a:avLst>
              <a:gd name="adj" fmla="val 2000"/>
            </a:avLst>
          </a:prstGeom>
          <a:solidFill>
            <a:srgbClr val="112240"/>
          </a:solidFill>
          <a:ln w="7620">
            <a:solidFill>
              <a:srgbClr val="1E3A5F"/>
            </a:solidFill>
            <a:prstDash val="solid"/>
          </a:ln>
          <a:effectLst>
            <a:outerShdw sx="100000" sy="100000" kx="0" ky="0" algn="bl" rotWithShape="0" blurRad="76200" dist="25400" dir="8100000">
              <a:srgbClr val="000000">
                <a:alpha val="22000"/>
              </a:srgbClr>
            </a:outerShdw>
          </a:effectLst>
        </p:spPr>
      </p:sp>
      <p:sp>
        <p:nvSpPr>
          <p:cNvPr id="12" name="Shape 9"/>
          <p:cNvSpPr/>
          <p:nvPr/>
        </p:nvSpPr>
        <p:spPr>
          <a:xfrm>
            <a:off x="4617720" y="960120"/>
            <a:ext cx="50292" cy="3200400"/>
          </a:xfrm>
          <a:prstGeom prst="rect">
            <a:avLst/>
          </a:prstGeom>
          <a:solidFill>
            <a:srgbClr val="42A5F5"/>
          </a:solidFill>
          <a:ln w="12700">
            <a:solidFill>
              <a:srgbClr val="42A5F5"/>
            </a:solidFill>
            <a:prstDash val="solid"/>
          </a:ln>
        </p:spPr>
      </p:sp>
      <p:sp>
        <p:nvSpPr>
          <p:cNvPr id="13" name="Text 10"/>
          <p:cNvSpPr/>
          <p:nvPr/>
        </p:nvSpPr>
        <p:spPr>
          <a:xfrm>
            <a:off x="4800600" y="1051560"/>
            <a:ext cx="3749040" cy="329184"/>
          </a:xfrm>
          <a:prstGeom prst="rect">
            <a:avLst/>
          </a:prstGeom>
          <a:noFill/>
          <a:ln/>
        </p:spPr>
        <p:txBody>
          <a:bodyPr wrap="square" lIns="0" tIns="0" rIns="0" bIns="0" rtlCol="0" anchor="ctr"/>
          <a:lstStyle/>
          <a:p>
            <a:pPr indent="0" marL="0">
              <a:buNone/>
            </a:pPr>
            <a:r>
              <a:rPr lang="en-US" sz="1300" b="1" dirty="0">
                <a:solidFill>
                  <a:srgbClr val="42A5F5"/>
                </a:solidFill>
                <a:latin typeface="Calibri" pitchFamily="34" charset="0"/>
                <a:ea typeface="Calibri" pitchFamily="34" charset="-122"/>
                <a:cs typeface="Calibri" pitchFamily="34" charset="-120"/>
              </a:rPr>
              <a:t>Future Directions</a:t>
            </a:r>
            <a:endParaRPr lang="en-US" sz="1300" dirty="0"/>
          </a:p>
        </p:txBody>
      </p:sp>
      <p:sp>
        <p:nvSpPr>
          <p:cNvPr id="14" name="Text 11"/>
          <p:cNvSpPr/>
          <p:nvPr/>
        </p:nvSpPr>
        <p:spPr>
          <a:xfrm>
            <a:off x="4800600" y="1417320"/>
            <a:ext cx="3749040" cy="2606040"/>
          </a:xfrm>
          <a:prstGeom prst="rect">
            <a:avLst/>
          </a:prstGeom>
          <a:noFill/>
          <a:ln/>
        </p:spPr>
        <p:txBody>
          <a:bodyPr wrap="square" lIns="50800" tIns="50800" rIns="50800" bIns="50800" rtlCol="0" anchor="t"/>
          <a:lstStyle/>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Scale to real EMBER 2018 dataset (2,381 features)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Multi-class malware family classification</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Adaptive / dynamic trigger patterns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Combine PBP with certified robustness bounds</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Evaluate against adversaries aware of PBP</a:t>
            </a:r>
            <a:endParaRPr lang="en-US" sz="1250" dirty="0"/>
          </a:p>
          <a:p>
            <a:pPr marL="342900" indent="-342900">
              <a:spcAft>
                <a:spcPts val="200"/>
              </a:spcAft>
              <a:buSzPct val="100000"/>
              <a:buChar char="•"/>
            </a:pPr>
            <a:r>
              <a:rPr lang="en-US" sz="1250" dirty="0">
                <a:solidFill>
                  <a:srgbClr val="E3EBF6"/>
                </a:solidFill>
                <a:latin typeface="Calibri" pitchFamily="34" charset="0"/>
                <a:ea typeface="Calibri" pitchFamily="34" charset="-122"/>
                <a:cs typeface="Calibri" pitchFamily="34" charset="-120"/>
              </a:rPr>
              <a:t>Extend to graph neural networks for call graphs</a:t>
            </a:r>
            <a:endParaRPr lang="en-US" sz="1250" dirty="0"/>
          </a:p>
        </p:txBody>
      </p:sp>
      <p:sp>
        <p:nvSpPr>
          <p:cNvPr id="15" name="Text 12"/>
          <p:cNvSpPr/>
          <p:nvPr/>
        </p:nvSpPr>
        <p:spPr>
          <a:xfrm>
            <a:off x="502920" y="4443984"/>
            <a:ext cx="8321040" cy="512064"/>
          </a:xfrm>
          <a:prstGeom prst="rect">
            <a:avLst/>
          </a:prstGeom>
          <a:noFill/>
          <a:ln/>
        </p:spPr>
        <p:txBody>
          <a:bodyPr wrap="square" lIns="50800" tIns="50800" rIns="50800" bIns="50800" rtlCol="0" anchor="ctr"/>
          <a:lstStyle/>
          <a:p>
            <a:pPr algn="ctr" indent="0" marL="0">
              <a:buNone/>
            </a:pPr>
            <a:r>
              <a:rPr lang="en-US" sz="1150" i="1" dirty="0">
                <a:solidFill>
                  <a:srgbClr val="42A5F5"/>
                </a:solidFill>
                <a:latin typeface="Calibri" pitchFamily="34" charset="0"/>
                <a:ea typeface="Calibri" pitchFamily="34" charset="-122"/>
                <a:cs typeface="Calibri" pitchFamily="34" charset="-120"/>
              </a:rPr>
              <a:t>PBP demonstrates that post-training backdoor defense is practical, effective, and deployable — requiring no retraining, no trigger knowledge, and no access to original training data.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PBP: Post-training Backdoor Purification for Malware Classifiers</dc:title>
  <dc:subject>PptxGenJS Presentation</dc:subject>
  <dc:creator>PBP Research</dc:creator>
  <cp:lastModifiedBy>PBP Research</cp:lastModifiedBy>
  <cp:revision>1</cp:revision>
  <dcterms:created xsi:type="dcterms:W3CDTF">2026-05-09T09:46:48Z</dcterms:created>
  <dcterms:modified xsi:type="dcterms:W3CDTF">2026-05-09T09:46:48Z</dcterms:modified>
</cp:coreProperties>
</file>